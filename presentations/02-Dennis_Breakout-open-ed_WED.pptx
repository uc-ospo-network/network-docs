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0" r:id="rId3"/>
    <p:sldId id="271" r:id="rId4"/>
    <p:sldId id="275" r:id="rId5"/>
    <p:sldId id="259" r:id="rId6"/>
    <p:sldId id="260" r:id="rId7"/>
    <p:sldId id="261" r:id="rId8"/>
    <p:sldId id="272" r:id="rId9"/>
    <p:sldId id="273" r:id="rId10"/>
    <p:sldId id="258" r:id="rId11"/>
    <p:sldId id="268" r:id="rId12"/>
    <p:sldId id="276" r:id="rId13"/>
    <p:sldId id="274"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5EB3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61"/>
    <p:restoredTop sz="94823"/>
  </p:normalViewPr>
  <p:slideViewPr>
    <p:cSldViewPr snapToGrid="0" snapToObjects="1">
      <p:cViewPr varScale="1">
        <p:scale>
          <a:sx n="116" d="100"/>
          <a:sy n="116" d="100"/>
        </p:scale>
        <p:origin x="2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8CF50-D66D-9645-B7F2-D3BBDE3AB405}"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ECA02-367E-C649-AE15-F7A2A803AA86}" type="slidenum">
              <a:rPr lang="en-US" smtClean="0"/>
              <a:t>‹#›</a:t>
            </a:fld>
            <a:endParaRPr lang="en-US"/>
          </a:p>
        </p:txBody>
      </p:sp>
    </p:spTree>
    <p:extLst>
      <p:ext uri="{BB962C8B-B14F-4D97-AF65-F5344CB8AC3E}">
        <p14:creationId xmlns:p14="http://schemas.microsoft.com/office/powerpoint/2010/main" val="3935395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me. I'm Tim Dennis, Director of the Data Science Center at UCLA Library. What I want to share today is what a UC-wide OSPO education program actually looks like in practice — not the vision, but the built thing. We're in Year 2 of Sloan Foundation funding, all 10 campuses are involved, and the platform is live. Let's dig in</a:t>
            </a:r>
          </a:p>
        </p:txBody>
      </p:sp>
      <p:sp>
        <p:nvSpPr>
          <p:cNvPr id="4" name="Slide Number Placeholder 3"/>
          <p:cNvSpPr>
            <a:spLocks noGrp="1"/>
          </p:cNvSpPr>
          <p:nvPr>
            <p:ph type="sldNum" sz="quarter" idx="5"/>
          </p:nvPr>
        </p:nvSpPr>
        <p:spPr/>
        <p:txBody>
          <a:bodyPr/>
          <a:lstStyle/>
          <a:p>
            <a:fld id="{44BECA02-367E-C649-AE15-F7A2A803AA86}" type="slidenum">
              <a:rPr lang="en-US" smtClean="0"/>
              <a:t>1</a:t>
            </a:fld>
            <a:endParaRPr lang="en-US"/>
          </a:p>
        </p:txBody>
      </p:sp>
    </p:spTree>
    <p:extLst>
      <p:ext uri="{BB962C8B-B14F-4D97-AF65-F5344CB8AC3E}">
        <p14:creationId xmlns:p14="http://schemas.microsoft.com/office/powerpoint/2010/main" val="33490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we started with. Open source literacy isn't a single thing. A faculty researcher applying for an NIH grant needs FAIR compliance and reproducibility documentation. A grad student needs Git basics and a portfolio. A tech transfer officer needs to know what 'commercializing open source' even means at a UC institution. A research computing admin needs to vet tools for P3/P4 data environments.</a:t>
            </a:r>
          </a:p>
          <a:p>
            <a:r>
              <a:rPr lang="en-US" dirty="0"/>
              <a:t>These are real people with real, divergent needs. And nobody had mapped the right lesson to the right person at the right moment in their career. That's the mandate this project took on.</a:t>
            </a:r>
          </a:p>
        </p:txBody>
      </p:sp>
      <p:sp>
        <p:nvSpPr>
          <p:cNvPr id="4" name="Slide Number Placeholder 3"/>
          <p:cNvSpPr>
            <a:spLocks noGrp="1"/>
          </p:cNvSpPr>
          <p:nvPr>
            <p:ph type="sldNum" sz="quarter" idx="5"/>
          </p:nvPr>
        </p:nvSpPr>
        <p:spPr/>
        <p:txBody>
          <a:bodyPr/>
          <a:lstStyle/>
          <a:p>
            <a:fld id="{44BECA02-367E-C649-AE15-F7A2A803AA86}" type="slidenum">
              <a:rPr lang="en-US" smtClean="0"/>
              <a:t>2</a:t>
            </a:fld>
            <a:endParaRPr lang="en-US"/>
          </a:p>
        </p:txBody>
      </p:sp>
    </p:spTree>
    <p:extLst>
      <p:ext uri="{BB962C8B-B14F-4D97-AF65-F5344CB8AC3E}">
        <p14:creationId xmlns:p14="http://schemas.microsoft.com/office/powerpoint/2010/main" val="3063338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the 'right lesson, right person, right time' problem is </a:t>
            </a:r>
            <a:r>
              <a:rPr lang="en-US" dirty="0" err="1"/>
              <a:t>education.ucospo.net</a:t>
            </a:r>
            <a:r>
              <a:rPr lang="en-US" dirty="0"/>
              <a:t>. It's live right now, go look at it on your phone.</a:t>
            </a:r>
          </a:p>
          <a:p>
            <a:endParaRPr lang="en-US" dirty="0"/>
          </a:p>
          <a:p>
            <a:r>
              <a:rPr lang="en-US" dirty="0"/>
              <a:t>&gt; Three things make it work. First, role-based filtering — you tell it whether you're a maintainer, contributor, or consumer, and it filters the 56+ vetted lessons accordingly. Second, visual signposting — color-coded skill badges so you can immediately see if something is beginner, intermediate, or advanced. And third — and this one matters for the open science crowd — every lesson is tagged with </a:t>
            </a:r>
            <a:r>
              <a:rPr lang="en-US" dirty="0" err="1"/>
              <a:t>Bioschemas</a:t>
            </a:r>
            <a:r>
              <a:rPr lang="en-US" dirty="0"/>
              <a:t> Training Metadata. </a:t>
            </a:r>
            <a:r>
              <a:rPr lang="en-US" dirty="0" err="1"/>
              <a:t>learningResourceType</a:t>
            </a:r>
            <a:r>
              <a:rPr lang="en-US" dirty="0"/>
              <a:t>, </a:t>
            </a:r>
            <a:r>
              <a:rPr lang="en-US" dirty="0" err="1"/>
              <a:t>timeRequired</a:t>
            </a:r>
            <a:r>
              <a:rPr lang="en-US" dirty="0"/>
              <a:t>, mentions. That means these lessons are globally discoverable by systems like </a:t>
            </a:r>
            <a:r>
              <a:rPr lang="en-US" dirty="0" err="1"/>
              <a:t>TeSS</a:t>
            </a:r>
            <a:r>
              <a:rPr lang="en-US" dirty="0"/>
              <a:t> and </a:t>
            </a:r>
            <a:r>
              <a:rPr lang="en-US" dirty="0" err="1"/>
              <a:t>schema.org</a:t>
            </a:r>
            <a:r>
              <a:rPr lang="en-US" dirty="0"/>
              <a:t> scrapers, not just findable by people who already know we exist."</a:t>
            </a:r>
          </a:p>
          <a:p>
            <a:endParaRPr lang="en-US" dirty="0"/>
          </a:p>
        </p:txBody>
      </p:sp>
      <p:sp>
        <p:nvSpPr>
          <p:cNvPr id="4" name="Slide Number Placeholder 3"/>
          <p:cNvSpPr>
            <a:spLocks noGrp="1"/>
          </p:cNvSpPr>
          <p:nvPr>
            <p:ph type="sldNum" sz="quarter" idx="5"/>
          </p:nvPr>
        </p:nvSpPr>
        <p:spPr/>
        <p:txBody>
          <a:bodyPr/>
          <a:lstStyle/>
          <a:p>
            <a:fld id="{44BECA02-367E-C649-AE15-F7A2A803AA86}" type="slidenum">
              <a:rPr lang="en-US" smtClean="0"/>
              <a:t>3</a:t>
            </a:fld>
            <a:endParaRPr lang="en-US"/>
          </a:p>
        </p:txBody>
      </p:sp>
    </p:spTree>
    <p:extLst>
      <p:ext uri="{BB962C8B-B14F-4D97-AF65-F5344CB8AC3E}">
        <p14:creationId xmlns:p14="http://schemas.microsoft.com/office/powerpoint/2010/main" val="3919638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distributed UC team. Reid Otsuji, Karla Padilla, and David Minor at UCSD anchored the education committee. Lauren Reyes at UCSD led the UI/UX work. Laura Langdon keeps the community coordinated. And student developers did the heavy engineering lift on the infrastructure side. No single campus owns this — which is exactly the point. Keep that in mind as I show you what we built.</a:t>
            </a:r>
          </a:p>
          <a:p>
            <a:endParaRPr lang="en-US" dirty="0"/>
          </a:p>
        </p:txBody>
      </p:sp>
      <p:sp>
        <p:nvSpPr>
          <p:cNvPr id="4" name="Slide Number Placeholder 3"/>
          <p:cNvSpPr>
            <a:spLocks noGrp="1"/>
          </p:cNvSpPr>
          <p:nvPr>
            <p:ph type="sldNum" sz="quarter" idx="5"/>
          </p:nvPr>
        </p:nvSpPr>
        <p:spPr/>
        <p:txBody>
          <a:bodyPr/>
          <a:lstStyle/>
          <a:p>
            <a:fld id="{44BECA02-367E-C649-AE15-F7A2A803AA86}" type="slidenum">
              <a:rPr lang="en-US" smtClean="0"/>
              <a:t>10</a:t>
            </a:fld>
            <a:endParaRPr lang="en-US"/>
          </a:p>
        </p:txBody>
      </p:sp>
    </p:spTree>
    <p:extLst>
      <p:ext uri="{BB962C8B-B14F-4D97-AF65-F5344CB8AC3E}">
        <p14:creationId xmlns:p14="http://schemas.microsoft.com/office/powerpoint/2010/main" val="1091367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rot="706097">
            <a:off x="317404" y="391363"/>
            <a:ext cx="1120839"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rot="21112194">
            <a:off x="1419965" y="414223"/>
            <a:ext cx="1293156"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rot="4335320">
            <a:off x="-87983" y="848563"/>
            <a:ext cx="1200095"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rot="7719588">
            <a:off x="475202" y="962863"/>
            <a:ext cx="1171003"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rot="2963922">
            <a:off x="1279266" y="825703"/>
            <a:ext cx="843035"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rot="7898012">
            <a:off x="1790322" y="734263"/>
            <a:ext cx="1101083"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rot="20874315">
            <a:off x="680413" y="1282903"/>
            <a:ext cx="1309221"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rot="895885">
            <a:off x="1951138" y="1328623"/>
            <a:ext cx="1419530"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rot="20006097">
            <a:off x="3249566" y="1100023"/>
            <a:ext cx="1840194"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rot="1761465">
            <a:off x="4884836" y="1100023"/>
            <a:ext cx="1678615"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rot="19027266">
            <a:off x="6222264" y="917143"/>
            <a:ext cx="1746958"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rot="600479">
            <a:off x="7723814" y="459943"/>
            <a:ext cx="1578499"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rot="20811959">
            <a:off x="9271882" y="437083"/>
            <a:ext cx="1408443"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rot="1981432">
            <a:off x="10573807" y="574243"/>
            <a:ext cx="1090592"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rot="2880767">
            <a:off x="9086684" y="1054303"/>
            <a:ext cx="1230199"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rot="9382237">
            <a:off x="10046318" y="1191463"/>
            <a:ext cx="1596930"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rot="10162821">
            <a:off x="8637476" y="1648663"/>
            <a:ext cx="1488535"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rot="427501">
            <a:off x="6447124" y="1648663"/>
            <a:ext cx="2211638"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rot="6272067">
            <a:off x="9981011" y="2105863"/>
            <a:ext cx="2550504"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rot="2099521">
            <a:off x="10835340" y="3660343"/>
            <a:ext cx="1116167"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rot="7561642">
            <a:off x="10863004" y="4483303"/>
            <a:ext cx="1243718"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rot="7612194">
            <a:off x="10570464" y="3523183"/>
            <a:ext cx="457200"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rot="779677">
            <a:off x="10646283" y="3843223"/>
            <a:ext cx="1219961"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rot="5261177">
            <a:off x="-1844362" y="2540203"/>
            <a:ext cx="4529973"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rot="5585643">
            <a:off x="-1090605" y="3111703"/>
            <a:ext cx="3388219" cy="12801"/>
          </a:xfrm>
          <a:prstGeom prst="rect">
            <a:avLst/>
          </a:prstGeom>
          <a:solidFill>
            <a:srgbClr val="FFE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74320" y="22860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371600" y="45720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651760" y="27432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40080" y="137160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920240" y="109728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291840" y="146304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937760" y="64008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400800" y="146304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80960" y="27432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235440" y="54864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607040" y="22860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521440" y="82296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058400" y="146304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595360" y="173736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881360" y="329184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795760" y="393192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064240" y="493776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457200" y="475488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607040" y="3657600"/>
            <a:ext cx="109728" cy="10972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48640" y="2194560"/>
            <a:ext cx="10515600" cy="777240"/>
          </a:xfrm>
          <a:prstGeom prst="rect">
            <a:avLst/>
          </a:prstGeom>
          <a:noFill/>
        </p:spPr>
        <p:txBody>
          <a:bodyPr wrap="square">
            <a:spAutoFit/>
          </a:bodyPr>
          <a:lstStyle/>
          <a:p>
            <a:pPr algn="l"/>
            <a:r>
              <a:rPr sz="4000" b="1" i="0">
                <a:solidFill>
                  <a:srgbClr val="FFFFFF"/>
                </a:solidFill>
                <a:latin typeface="Aptos"/>
              </a:rPr>
              <a:t>UC OSPO Education Activities</a:t>
            </a:r>
          </a:p>
        </p:txBody>
      </p:sp>
      <p:sp>
        <p:nvSpPr>
          <p:cNvPr id="51" name="TextBox 50"/>
          <p:cNvSpPr txBox="1"/>
          <p:nvPr/>
        </p:nvSpPr>
        <p:spPr>
          <a:xfrm>
            <a:off x="548640" y="3063240"/>
            <a:ext cx="8686800" cy="502920"/>
          </a:xfrm>
          <a:prstGeom prst="rect">
            <a:avLst/>
          </a:prstGeom>
          <a:noFill/>
        </p:spPr>
        <p:txBody>
          <a:bodyPr wrap="square">
            <a:spAutoFit/>
          </a:bodyPr>
          <a:lstStyle/>
          <a:p>
            <a:pPr algn="l"/>
            <a:r>
              <a:rPr sz="2000" b="0" i="1">
                <a:solidFill>
                  <a:srgbClr val="FFE699"/>
                </a:solidFill>
                <a:latin typeface="Aptos"/>
              </a:rPr>
              <a:t>Cultivating Open Source Literacy Across the University of California</a:t>
            </a:r>
          </a:p>
        </p:txBody>
      </p:sp>
      <p:sp>
        <p:nvSpPr>
          <p:cNvPr id="52" name="Rectangle 51"/>
          <p:cNvSpPr/>
          <p:nvPr/>
        </p:nvSpPr>
        <p:spPr>
          <a:xfrm>
            <a:off x="548640" y="4480560"/>
            <a:ext cx="36576" cy="109728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40080" y="4480560"/>
            <a:ext cx="5943600" cy="1097280"/>
          </a:xfrm>
          <a:prstGeom prst="roundRect">
            <a:avLst>
              <a:gd name="adj" fmla="val 5000"/>
            </a:avLst>
          </a:prstGeom>
          <a:solidFill>
            <a:srgbClr val="2435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2960" y="4572000"/>
            <a:ext cx="5577840" cy="411480"/>
          </a:xfrm>
          <a:prstGeom prst="rect">
            <a:avLst/>
          </a:prstGeom>
          <a:noFill/>
        </p:spPr>
        <p:txBody>
          <a:bodyPr wrap="square">
            <a:spAutoFit/>
          </a:bodyPr>
          <a:lstStyle/>
          <a:p>
            <a:pPr algn="l"/>
            <a:r>
              <a:rPr sz="1500" b="0" i="0">
                <a:solidFill>
                  <a:srgbClr val="FFFFFF"/>
                </a:solidFill>
                <a:latin typeface="Aptos"/>
              </a:rPr>
              <a:t>Tim Dennis  |  Director, Data Science Center, UCLA Library</a:t>
            </a:r>
          </a:p>
        </p:txBody>
      </p:sp>
      <p:sp>
        <p:nvSpPr>
          <p:cNvPr id="55" name="TextBox 54"/>
          <p:cNvSpPr txBox="1"/>
          <p:nvPr/>
        </p:nvSpPr>
        <p:spPr>
          <a:xfrm>
            <a:off x="822960" y="4983480"/>
            <a:ext cx="4572000" cy="411480"/>
          </a:xfrm>
          <a:prstGeom prst="rect">
            <a:avLst/>
          </a:prstGeom>
          <a:noFill/>
        </p:spPr>
        <p:txBody>
          <a:bodyPr wrap="square">
            <a:spAutoFit/>
          </a:bodyPr>
          <a:lstStyle/>
          <a:p>
            <a:pPr algn="l"/>
            <a:r>
              <a:rPr sz="1500" b="0" i="0" dirty="0">
                <a:solidFill>
                  <a:srgbClr val="FFE699"/>
                </a:solidFill>
                <a:latin typeface="Aptos"/>
              </a:rPr>
              <a:t>UC Open  |  April 22–23  |  UC Berkeley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txBody>
          <a:bodyPr/>
          <a:lstStyle/>
          <a:p>
            <a:endParaRPr/>
          </a:p>
        </p:txBody>
      </p:sp>
      <p:sp>
        <p:nvSpPr>
          <p:cNvPr id="3" name="Border"/>
          <p:cNvSpPr/>
          <p:nvPr/>
        </p:nvSpPr>
        <p:spPr>
          <a:xfrm>
            <a:off x="118872" y="118872"/>
            <a:ext cx="11953951" cy="6620256"/>
          </a:xfrm>
          <a:prstGeom prst="rect">
            <a:avLst/>
          </a:prstGeom>
          <a:noFill/>
          <a:ln w="9525">
            <a:solidFill>
              <a:srgbClr val="FF9100"/>
            </a:solidFill>
          </a:ln>
        </p:spPr>
        <p:txBody>
          <a:bodyPr/>
          <a:lstStyle/>
          <a:p>
            <a:endParaRPr/>
          </a:p>
        </p:txBody>
      </p:sp>
      <p:sp>
        <p:nvSpPr>
          <p:cNvPr id="4" name="Title"/>
          <p:cNvSpPr txBox="1"/>
          <p:nvPr/>
        </p:nvSpPr>
        <p:spPr>
          <a:xfrm>
            <a:off x="457200" y="137160"/>
            <a:ext cx="11247120" cy="553998"/>
          </a:xfrm>
          <a:prstGeom prst="rect">
            <a:avLst/>
          </a:prstGeom>
          <a:noFill/>
        </p:spPr>
        <p:txBody>
          <a:bodyPr wrap="square">
            <a:spAutoFit/>
          </a:bodyPr>
          <a:lstStyle/>
          <a:p>
            <a:pPr algn="l"/>
            <a:r>
              <a:rPr sz="3000" b="1" i="0" dirty="0" err="1">
                <a:solidFill>
                  <a:srgbClr val="FFFFFF"/>
                </a:solidFill>
                <a:latin typeface="Aptos"/>
              </a:rPr>
              <a:t>ucospo.net</a:t>
            </a:r>
            <a:r>
              <a:rPr sz="2200" b="0" i="0" dirty="0">
                <a:solidFill>
                  <a:srgbClr val="FF9100"/>
                </a:solidFill>
                <a:latin typeface="Aptos"/>
              </a:rPr>
              <a:t>  — role-based filtering in action</a:t>
            </a:r>
          </a:p>
        </p:txBody>
      </p:sp>
      <p:sp>
        <p:nvSpPr>
          <p:cNvPr id="5" name="Rule"/>
          <p:cNvSpPr/>
          <p:nvPr/>
        </p:nvSpPr>
        <p:spPr>
          <a:xfrm>
            <a:off x="457200" y="777240"/>
            <a:ext cx="11247120" cy="27432"/>
          </a:xfrm>
          <a:prstGeom prst="rect">
            <a:avLst/>
          </a:prstGeom>
          <a:solidFill>
            <a:srgbClr val="FF9100"/>
          </a:solidFill>
          <a:ln>
            <a:noFill/>
          </a:ln>
        </p:spPr>
        <p:txBody>
          <a:bodyPr/>
          <a:lstStyle/>
          <a:p>
            <a:endParaRPr/>
          </a:p>
        </p:txBody>
      </p:sp>
      <p:pic>
        <p:nvPicPr>
          <p:cNvPr id="6" name="Screenshot"/>
          <p:cNvPicPr>
            <a:picLocks noChangeAspect="1"/>
          </p:cNvPicPr>
          <p:nvPr/>
        </p:nvPicPr>
        <p:blipFill>
          <a:blip r:embed="rId2"/>
          <a:stretch>
            <a:fillRect/>
          </a:stretch>
        </p:blipFill>
        <p:spPr>
          <a:xfrm>
            <a:off x="457200" y="868680"/>
            <a:ext cx="11247120" cy="5806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11247120" cy="731520"/>
          </a:xfrm>
          <a:prstGeom prst="rect">
            <a:avLst/>
          </a:prstGeom>
          <a:noFill/>
        </p:spPr>
        <p:txBody>
          <a:bodyPr wrap="square">
            <a:spAutoFit/>
          </a:bodyPr>
          <a:lstStyle/>
          <a:p>
            <a:pPr algn="l"/>
            <a:r>
              <a:rPr sz="3400" b="1" i="0">
                <a:solidFill>
                  <a:srgbClr val="FFFFFF"/>
                </a:solidFill>
                <a:latin typeface="Aptos"/>
              </a:rPr>
              <a:t>A Curated, Navigable Learning Experience</a:t>
            </a:r>
          </a:p>
        </p:txBody>
      </p:sp>
      <p:sp>
        <p:nvSpPr>
          <p:cNvPr id="7" name="Rectangle 6"/>
          <p:cNvSpPr/>
          <p:nvPr/>
        </p:nvSpPr>
        <p:spPr>
          <a:xfrm>
            <a:off x="457200" y="868680"/>
            <a:ext cx="112471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097280"/>
            <a:ext cx="6675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6309359" cy="411480"/>
          </a:xfrm>
          <a:prstGeom prst="rect">
            <a:avLst/>
          </a:prstGeom>
          <a:noFill/>
        </p:spPr>
        <p:txBody>
          <a:bodyPr wrap="square">
            <a:spAutoFit/>
          </a:bodyPr>
          <a:lstStyle/>
          <a:p>
            <a:pPr algn="l"/>
            <a:r>
              <a:rPr sz="1400" b="1" i="0">
                <a:solidFill>
                  <a:srgbClr val="FF9100"/>
                </a:solidFill>
                <a:latin typeface="Aptos"/>
              </a:rPr>
              <a:t>Role-Based Filtering</a:t>
            </a:r>
          </a:p>
        </p:txBody>
      </p:sp>
      <p:sp>
        <p:nvSpPr>
          <p:cNvPr id="10" name="TextBox 9"/>
          <p:cNvSpPr txBox="1"/>
          <p:nvPr/>
        </p:nvSpPr>
        <p:spPr>
          <a:xfrm>
            <a:off x="640080" y="1737360"/>
            <a:ext cx="6309359" cy="731520"/>
          </a:xfrm>
          <a:prstGeom prst="rect">
            <a:avLst/>
          </a:prstGeom>
          <a:noFill/>
        </p:spPr>
        <p:txBody>
          <a:bodyPr wrap="square">
            <a:spAutoFit/>
          </a:bodyPr>
          <a:lstStyle/>
          <a:p>
            <a:pPr algn="l"/>
            <a:r>
              <a:rPr sz="1300" b="0" i="0">
                <a:solidFill>
                  <a:srgbClr val="1A2744"/>
                </a:solidFill>
                <a:latin typeface="Aptos"/>
              </a:rPr>
              <a:t>Users can instantly filter 56+ vetted lessons by OSS Role (Maintainer, Contributor, Consumer) and Domain.</a:t>
            </a:r>
          </a:p>
        </p:txBody>
      </p:sp>
      <p:sp>
        <p:nvSpPr>
          <p:cNvPr id="11" name="Rounded Rectangle 10"/>
          <p:cNvSpPr/>
          <p:nvPr/>
        </p:nvSpPr>
        <p:spPr>
          <a:xfrm>
            <a:off x="457200" y="2697480"/>
            <a:ext cx="6675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880360"/>
            <a:ext cx="6309359" cy="411480"/>
          </a:xfrm>
          <a:prstGeom prst="rect">
            <a:avLst/>
          </a:prstGeom>
          <a:noFill/>
        </p:spPr>
        <p:txBody>
          <a:bodyPr wrap="square">
            <a:spAutoFit/>
          </a:bodyPr>
          <a:lstStyle/>
          <a:p>
            <a:pPr algn="l"/>
            <a:r>
              <a:rPr sz="1400" b="1" i="0">
                <a:solidFill>
                  <a:srgbClr val="FF9100"/>
                </a:solidFill>
                <a:latin typeface="Aptos"/>
              </a:rPr>
              <a:t>Visual Signposting</a:t>
            </a:r>
          </a:p>
        </p:txBody>
      </p:sp>
      <p:sp>
        <p:nvSpPr>
          <p:cNvPr id="13" name="TextBox 12"/>
          <p:cNvSpPr txBox="1"/>
          <p:nvPr/>
        </p:nvSpPr>
        <p:spPr>
          <a:xfrm>
            <a:off x="640080" y="3337560"/>
            <a:ext cx="6309359" cy="731519"/>
          </a:xfrm>
          <a:prstGeom prst="rect">
            <a:avLst/>
          </a:prstGeom>
          <a:noFill/>
        </p:spPr>
        <p:txBody>
          <a:bodyPr wrap="square">
            <a:spAutoFit/>
          </a:bodyPr>
          <a:lstStyle/>
          <a:p>
            <a:pPr algn="l"/>
            <a:r>
              <a:rPr sz="1300" b="0" i="0">
                <a:solidFill>
                  <a:srgbClr val="1A2744"/>
                </a:solidFill>
                <a:latin typeface="Aptos"/>
              </a:rPr>
              <a:t>Clean UI using two-tone cards and color-coded skill badges (Green=Beginner, Orange=Intermediate, Red=Advanced).</a:t>
            </a:r>
          </a:p>
        </p:txBody>
      </p:sp>
      <p:sp>
        <p:nvSpPr>
          <p:cNvPr id="14" name="Rounded Rectangle 13"/>
          <p:cNvSpPr/>
          <p:nvPr/>
        </p:nvSpPr>
        <p:spPr>
          <a:xfrm>
            <a:off x="457200" y="4297680"/>
            <a:ext cx="66751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480560"/>
            <a:ext cx="6309359" cy="411480"/>
          </a:xfrm>
          <a:prstGeom prst="rect">
            <a:avLst/>
          </a:prstGeom>
          <a:noFill/>
        </p:spPr>
        <p:txBody>
          <a:bodyPr wrap="square">
            <a:spAutoFit/>
          </a:bodyPr>
          <a:lstStyle/>
          <a:p>
            <a:pPr algn="l"/>
            <a:r>
              <a:rPr sz="1400" b="1" i="0">
                <a:solidFill>
                  <a:srgbClr val="FF9100"/>
                </a:solidFill>
                <a:latin typeface="Aptos"/>
              </a:rPr>
              <a:t>Machine-Readable Discovery</a:t>
            </a:r>
          </a:p>
        </p:txBody>
      </p:sp>
      <p:sp>
        <p:nvSpPr>
          <p:cNvPr id="16" name="TextBox 15"/>
          <p:cNvSpPr txBox="1"/>
          <p:nvPr/>
        </p:nvSpPr>
        <p:spPr>
          <a:xfrm>
            <a:off x="640080" y="4937760"/>
            <a:ext cx="6309359" cy="731519"/>
          </a:xfrm>
          <a:prstGeom prst="rect">
            <a:avLst/>
          </a:prstGeom>
          <a:noFill/>
        </p:spPr>
        <p:txBody>
          <a:bodyPr wrap="square">
            <a:spAutoFit/>
          </a:bodyPr>
          <a:lstStyle/>
          <a:p>
            <a:pPr algn="l"/>
            <a:r>
              <a:rPr sz="1300" b="0" i="0">
                <a:solidFill>
                  <a:srgbClr val="1A2744"/>
                </a:solidFill>
                <a:latin typeface="Aptos"/>
              </a:rPr>
              <a:t>Deep integration with Bioschemas Training Metadata (learningResourceType, timeRequired, mentions) to ensure global discoverability.</a:t>
            </a:r>
          </a:p>
        </p:txBody>
      </p:sp>
      <p:sp>
        <p:nvSpPr>
          <p:cNvPr id="17" name="Rounded Rectangle 16"/>
          <p:cNvSpPr/>
          <p:nvPr/>
        </p:nvSpPr>
        <p:spPr>
          <a:xfrm>
            <a:off x="7498079" y="1097280"/>
            <a:ext cx="4297680" cy="4846320"/>
          </a:xfrm>
          <a:prstGeom prst="roundRect">
            <a:avLst>
              <a:gd name="adj" fmla="val 8000"/>
            </a:avLst>
          </a:prstGeom>
          <a:solidFill>
            <a:srgbClr val="1E2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0" y="1828800"/>
            <a:ext cx="3931920" cy="502920"/>
          </a:xfrm>
          <a:prstGeom prst="rect">
            <a:avLst/>
          </a:prstGeom>
          <a:noFill/>
        </p:spPr>
        <p:txBody>
          <a:bodyPr wrap="square">
            <a:spAutoFit/>
          </a:bodyPr>
          <a:lstStyle/>
          <a:p>
            <a:pPr algn="ctr"/>
            <a:r>
              <a:rPr sz="1700" b="1" i="0">
                <a:solidFill>
                  <a:srgbClr val="FF9100"/>
                </a:solidFill>
                <a:latin typeface="Aptos"/>
              </a:rPr>
              <a:t>education.ucospo.net</a:t>
            </a:r>
          </a:p>
        </p:txBody>
      </p:sp>
      <p:sp>
        <p:nvSpPr>
          <p:cNvPr id="19" name="TextBox 18"/>
          <p:cNvSpPr txBox="1"/>
          <p:nvPr/>
        </p:nvSpPr>
        <p:spPr>
          <a:xfrm>
            <a:off x="7680960" y="2468880"/>
            <a:ext cx="3931920" cy="822960"/>
          </a:xfrm>
          <a:prstGeom prst="rect">
            <a:avLst/>
          </a:prstGeom>
          <a:noFill/>
        </p:spPr>
        <p:txBody>
          <a:bodyPr wrap="square">
            <a:spAutoFit/>
          </a:bodyPr>
          <a:lstStyle/>
          <a:p>
            <a:pPr algn="ctr"/>
            <a:r>
              <a:rPr sz="3200" b="1" i="0">
                <a:solidFill>
                  <a:srgbClr val="FFFFFF"/>
                </a:solidFill>
                <a:latin typeface="Aptos"/>
              </a:rPr>
              <a:t>56+
curated lessons</a:t>
            </a:r>
          </a:p>
        </p:txBody>
      </p:sp>
      <p:sp>
        <p:nvSpPr>
          <p:cNvPr id="20" name="TextBox 19"/>
          <p:cNvSpPr txBox="1"/>
          <p:nvPr/>
        </p:nvSpPr>
        <p:spPr>
          <a:xfrm>
            <a:off x="7680960" y="3383280"/>
            <a:ext cx="3931920" cy="411480"/>
          </a:xfrm>
          <a:prstGeom prst="rect">
            <a:avLst/>
          </a:prstGeom>
          <a:noFill/>
        </p:spPr>
        <p:txBody>
          <a:bodyPr wrap="square">
            <a:spAutoFit/>
          </a:bodyPr>
          <a:lstStyle/>
          <a:p>
            <a:pPr algn="ctr"/>
            <a:r>
              <a:rPr sz="1400" b="0" i="0">
                <a:solidFill>
                  <a:srgbClr val="E8EDF5"/>
                </a:solidFill>
                <a:latin typeface="Aptos"/>
              </a:rPr>
              <a:t>across 6 structured pathways</a:t>
            </a:r>
          </a:p>
        </p:txBody>
      </p:sp>
      <p:sp>
        <p:nvSpPr>
          <p:cNvPr id="21" name="Rectangle 20"/>
          <p:cNvSpPr/>
          <p:nvPr/>
        </p:nvSpPr>
        <p:spPr>
          <a:xfrm>
            <a:off x="8229600" y="3931920"/>
            <a:ext cx="292608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0" y="4023360"/>
            <a:ext cx="3931920" cy="1371600"/>
          </a:xfrm>
          <a:prstGeom prst="rect">
            <a:avLst/>
          </a:prstGeom>
          <a:noFill/>
        </p:spPr>
        <p:txBody>
          <a:bodyPr wrap="square">
            <a:spAutoFit/>
          </a:bodyPr>
          <a:lstStyle/>
          <a:p>
            <a:pPr algn="ctr"/>
            <a:r>
              <a:rPr sz="1200" b="0" i="0">
                <a:solidFill>
                  <a:srgbClr val="E8EDF5"/>
                </a:solidFill>
                <a:latin typeface="Aptos"/>
              </a:rPr>
              <a:t>Role-based filtering
Beginner → Advanced
Machine-readable metadata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11247120" cy="731520"/>
          </a:xfrm>
          <a:prstGeom prst="rect">
            <a:avLst/>
          </a:prstGeom>
          <a:noFill/>
        </p:spPr>
        <p:txBody>
          <a:bodyPr wrap="square">
            <a:spAutoFit/>
          </a:bodyPr>
          <a:lstStyle/>
          <a:p>
            <a:pPr algn="l"/>
            <a:r>
              <a:rPr sz="3400" b="1" i="0">
                <a:solidFill>
                  <a:srgbClr val="FFFFFF"/>
                </a:solidFill>
                <a:latin typeface="Aptos"/>
              </a:rPr>
              <a:t>Structuring the Open Source Journey</a:t>
            </a:r>
          </a:p>
        </p:txBody>
      </p:sp>
      <p:sp>
        <p:nvSpPr>
          <p:cNvPr id="7" name="Rectangle 6"/>
          <p:cNvSpPr/>
          <p:nvPr/>
        </p:nvSpPr>
        <p:spPr>
          <a:xfrm>
            <a:off x="457200" y="868680"/>
            <a:ext cx="112471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09728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80160"/>
            <a:ext cx="3291840" cy="411480"/>
          </a:xfrm>
          <a:prstGeom prst="rect">
            <a:avLst/>
          </a:prstGeom>
          <a:noFill/>
        </p:spPr>
        <p:txBody>
          <a:bodyPr wrap="square">
            <a:spAutoFit/>
          </a:bodyPr>
          <a:lstStyle/>
          <a:p>
            <a:pPr algn="l"/>
            <a:r>
              <a:rPr sz="1400" b="1" i="0">
                <a:solidFill>
                  <a:srgbClr val="FF9100"/>
                </a:solidFill>
                <a:latin typeface="Aptos"/>
              </a:rPr>
              <a:t>Getting Started with Open Source</a:t>
            </a:r>
          </a:p>
        </p:txBody>
      </p:sp>
      <p:sp>
        <p:nvSpPr>
          <p:cNvPr id="10" name="TextBox 9"/>
          <p:cNvSpPr txBox="1"/>
          <p:nvPr/>
        </p:nvSpPr>
        <p:spPr>
          <a:xfrm>
            <a:off x="548640" y="1737360"/>
            <a:ext cx="3291840" cy="1417320"/>
          </a:xfrm>
          <a:prstGeom prst="rect">
            <a:avLst/>
          </a:prstGeom>
          <a:noFill/>
        </p:spPr>
        <p:txBody>
          <a:bodyPr wrap="square">
            <a:spAutoFit/>
          </a:bodyPr>
          <a:lstStyle/>
          <a:p>
            <a:pPr algn="l"/>
            <a:r>
              <a:rPr sz="1400" b="0" i="0">
                <a:solidFill>
                  <a:srgbClr val="1A2744"/>
                </a:solidFill>
                <a:latin typeface="Aptos"/>
              </a:rPr>
              <a:t>For learners new to open collaboration</a:t>
            </a:r>
          </a:p>
        </p:txBody>
      </p:sp>
      <p:sp>
        <p:nvSpPr>
          <p:cNvPr id="11" name="TextBox 10"/>
          <p:cNvSpPr txBox="1"/>
          <p:nvPr/>
        </p:nvSpPr>
        <p:spPr>
          <a:xfrm>
            <a:off x="3611880" y="2743200"/>
            <a:ext cx="365760" cy="411480"/>
          </a:xfrm>
          <a:prstGeom prst="rect">
            <a:avLst/>
          </a:prstGeom>
          <a:noFill/>
        </p:spPr>
        <p:txBody>
          <a:bodyPr wrap="square">
            <a:spAutoFit/>
          </a:bodyPr>
          <a:lstStyle/>
          <a:p>
            <a:pPr algn="ctr"/>
            <a:r>
              <a:rPr sz="1800" b="1" i="0">
                <a:solidFill>
                  <a:srgbClr val="FF9100"/>
                </a:solidFill>
                <a:latin typeface="Aptos"/>
              </a:rPr>
              <a:t>→</a:t>
            </a:r>
          </a:p>
        </p:txBody>
      </p:sp>
      <p:sp>
        <p:nvSpPr>
          <p:cNvPr id="12" name="Rounded Rectangle 11"/>
          <p:cNvSpPr/>
          <p:nvPr/>
        </p:nvSpPr>
        <p:spPr>
          <a:xfrm>
            <a:off x="4206240" y="109728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280160"/>
            <a:ext cx="3291840" cy="411480"/>
          </a:xfrm>
          <a:prstGeom prst="rect">
            <a:avLst/>
          </a:prstGeom>
          <a:noFill/>
        </p:spPr>
        <p:txBody>
          <a:bodyPr wrap="square">
            <a:spAutoFit/>
          </a:bodyPr>
          <a:lstStyle/>
          <a:p>
            <a:pPr algn="l"/>
            <a:r>
              <a:rPr sz="1400" b="1" i="0">
                <a:solidFill>
                  <a:srgbClr val="FF9100"/>
                </a:solidFill>
                <a:latin typeface="Aptos"/>
              </a:rPr>
              <a:t>Contributing to a Project</a:t>
            </a:r>
          </a:p>
        </p:txBody>
      </p:sp>
      <p:sp>
        <p:nvSpPr>
          <p:cNvPr id="14" name="TextBox 13"/>
          <p:cNvSpPr txBox="1"/>
          <p:nvPr/>
        </p:nvSpPr>
        <p:spPr>
          <a:xfrm>
            <a:off x="4389120" y="1737360"/>
            <a:ext cx="3291840" cy="1417320"/>
          </a:xfrm>
          <a:prstGeom prst="rect">
            <a:avLst/>
          </a:prstGeom>
          <a:noFill/>
        </p:spPr>
        <p:txBody>
          <a:bodyPr wrap="square">
            <a:spAutoFit/>
          </a:bodyPr>
          <a:lstStyle/>
          <a:p>
            <a:pPr algn="l"/>
            <a:r>
              <a:rPr sz="1400" b="0" i="0">
                <a:solidFill>
                  <a:srgbClr val="1A2744"/>
                </a:solidFill>
                <a:latin typeface="Aptos"/>
              </a:rPr>
              <a:t>Pull requests, issues, and documentation</a:t>
            </a:r>
          </a:p>
        </p:txBody>
      </p:sp>
      <p:sp>
        <p:nvSpPr>
          <p:cNvPr id="15" name="TextBox 14"/>
          <p:cNvSpPr txBox="1"/>
          <p:nvPr/>
        </p:nvSpPr>
        <p:spPr>
          <a:xfrm>
            <a:off x="7452360" y="2743200"/>
            <a:ext cx="365760" cy="411480"/>
          </a:xfrm>
          <a:prstGeom prst="rect">
            <a:avLst/>
          </a:prstGeom>
          <a:noFill/>
        </p:spPr>
        <p:txBody>
          <a:bodyPr wrap="square">
            <a:spAutoFit/>
          </a:bodyPr>
          <a:lstStyle/>
          <a:p>
            <a:pPr algn="ctr"/>
            <a:r>
              <a:rPr sz="1800" b="1" i="0">
                <a:solidFill>
                  <a:srgbClr val="FF9100"/>
                </a:solidFill>
                <a:latin typeface="Aptos"/>
              </a:rPr>
              <a:t>→</a:t>
            </a:r>
          </a:p>
        </p:txBody>
      </p:sp>
      <p:sp>
        <p:nvSpPr>
          <p:cNvPr id="16" name="Rounded Rectangle 15"/>
          <p:cNvSpPr/>
          <p:nvPr/>
        </p:nvSpPr>
        <p:spPr>
          <a:xfrm>
            <a:off x="8046720" y="109728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280160"/>
            <a:ext cx="3291840" cy="411480"/>
          </a:xfrm>
          <a:prstGeom prst="rect">
            <a:avLst/>
          </a:prstGeom>
          <a:noFill/>
        </p:spPr>
        <p:txBody>
          <a:bodyPr wrap="square">
            <a:spAutoFit/>
          </a:bodyPr>
          <a:lstStyle/>
          <a:p>
            <a:pPr algn="l"/>
            <a:r>
              <a:rPr sz="1400" b="1" i="0">
                <a:solidFill>
                  <a:srgbClr val="FF9100"/>
                </a:solidFill>
                <a:latin typeface="Aptos"/>
              </a:rPr>
              <a:t>Maintaining &amp; Sustaining Software</a:t>
            </a:r>
          </a:p>
        </p:txBody>
      </p:sp>
      <p:sp>
        <p:nvSpPr>
          <p:cNvPr id="18" name="TextBox 17"/>
          <p:cNvSpPr txBox="1"/>
          <p:nvPr/>
        </p:nvSpPr>
        <p:spPr>
          <a:xfrm>
            <a:off x="8229600" y="1737360"/>
            <a:ext cx="3291840" cy="1417320"/>
          </a:xfrm>
          <a:prstGeom prst="rect">
            <a:avLst/>
          </a:prstGeom>
          <a:noFill/>
        </p:spPr>
        <p:txBody>
          <a:bodyPr wrap="square">
            <a:spAutoFit/>
          </a:bodyPr>
          <a:lstStyle/>
          <a:p>
            <a:pPr algn="l"/>
            <a:r>
              <a:rPr sz="1400" b="0" i="0">
                <a:solidFill>
                  <a:srgbClr val="1A2744"/>
                </a:solidFill>
                <a:latin typeface="Aptos"/>
              </a:rPr>
              <a:t>CI/CD, code review, project management</a:t>
            </a:r>
          </a:p>
        </p:txBody>
      </p:sp>
      <p:sp>
        <p:nvSpPr>
          <p:cNvPr id="19" name="Rounded Rectangle 18"/>
          <p:cNvSpPr/>
          <p:nvPr/>
        </p:nvSpPr>
        <p:spPr>
          <a:xfrm>
            <a:off x="365760" y="342900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611880"/>
            <a:ext cx="3291840" cy="411480"/>
          </a:xfrm>
          <a:prstGeom prst="rect">
            <a:avLst/>
          </a:prstGeom>
          <a:noFill/>
        </p:spPr>
        <p:txBody>
          <a:bodyPr wrap="square">
            <a:spAutoFit/>
          </a:bodyPr>
          <a:lstStyle/>
          <a:p>
            <a:pPr algn="l"/>
            <a:r>
              <a:rPr sz="1400" b="1" i="0">
                <a:solidFill>
                  <a:srgbClr val="FF9100"/>
                </a:solidFill>
                <a:latin typeface="Aptos"/>
              </a:rPr>
              <a:t>Building Inclusive Communities</a:t>
            </a:r>
          </a:p>
        </p:txBody>
      </p:sp>
      <p:sp>
        <p:nvSpPr>
          <p:cNvPr id="21" name="TextBox 20"/>
          <p:cNvSpPr txBox="1"/>
          <p:nvPr/>
        </p:nvSpPr>
        <p:spPr>
          <a:xfrm>
            <a:off x="548640" y="4069080"/>
            <a:ext cx="3291840" cy="1417319"/>
          </a:xfrm>
          <a:prstGeom prst="rect">
            <a:avLst/>
          </a:prstGeom>
          <a:noFill/>
        </p:spPr>
        <p:txBody>
          <a:bodyPr wrap="square">
            <a:spAutoFit/>
          </a:bodyPr>
          <a:lstStyle/>
          <a:p>
            <a:pPr algn="l"/>
            <a:r>
              <a:rPr sz="1400" b="0" i="0">
                <a:solidFill>
                  <a:srgbClr val="1A2744"/>
                </a:solidFill>
                <a:latin typeface="Aptos"/>
              </a:rPr>
              <a:t>Governance, event organization, DEI</a:t>
            </a:r>
          </a:p>
        </p:txBody>
      </p:sp>
      <p:sp>
        <p:nvSpPr>
          <p:cNvPr id="22" name="TextBox 21"/>
          <p:cNvSpPr txBox="1"/>
          <p:nvPr/>
        </p:nvSpPr>
        <p:spPr>
          <a:xfrm>
            <a:off x="3611880" y="5074920"/>
            <a:ext cx="365760" cy="411480"/>
          </a:xfrm>
          <a:prstGeom prst="rect">
            <a:avLst/>
          </a:prstGeom>
          <a:noFill/>
        </p:spPr>
        <p:txBody>
          <a:bodyPr wrap="square">
            <a:spAutoFit/>
          </a:bodyPr>
          <a:lstStyle/>
          <a:p>
            <a:pPr algn="ctr"/>
            <a:r>
              <a:rPr sz="1800" b="1" i="0">
                <a:solidFill>
                  <a:srgbClr val="FF9100"/>
                </a:solidFill>
                <a:latin typeface="Aptos"/>
              </a:rPr>
              <a:t>→</a:t>
            </a:r>
          </a:p>
        </p:txBody>
      </p:sp>
      <p:sp>
        <p:nvSpPr>
          <p:cNvPr id="23" name="Rounded Rectangle 22"/>
          <p:cNvSpPr/>
          <p:nvPr/>
        </p:nvSpPr>
        <p:spPr>
          <a:xfrm>
            <a:off x="4206240" y="342900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0" y="3611880"/>
            <a:ext cx="3291840" cy="411480"/>
          </a:xfrm>
          <a:prstGeom prst="rect">
            <a:avLst/>
          </a:prstGeom>
          <a:noFill/>
        </p:spPr>
        <p:txBody>
          <a:bodyPr wrap="square">
            <a:spAutoFit/>
          </a:bodyPr>
          <a:lstStyle/>
          <a:p>
            <a:pPr algn="l"/>
            <a:r>
              <a:rPr sz="1400" b="1" i="0">
                <a:solidFill>
                  <a:srgbClr val="FF9100"/>
                </a:solidFill>
                <a:latin typeface="Aptos"/>
              </a:rPr>
              <a:t>Understanding Licensing &amp; Compliance</a:t>
            </a:r>
          </a:p>
        </p:txBody>
      </p:sp>
      <p:sp>
        <p:nvSpPr>
          <p:cNvPr id="25" name="TextBox 24"/>
          <p:cNvSpPr txBox="1"/>
          <p:nvPr/>
        </p:nvSpPr>
        <p:spPr>
          <a:xfrm>
            <a:off x="4389120" y="4069080"/>
            <a:ext cx="3291840" cy="1417319"/>
          </a:xfrm>
          <a:prstGeom prst="rect">
            <a:avLst/>
          </a:prstGeom>
          <a:noFill/>
        </p:spPr>
        <p:txBody>
          <a:bodyPr wrap="square">
            <a:spAutoFit/>
          </a:bodyPr>
          <a:lstStyle/>
          <a:p>
            <a:pPr algn="l"/>
            <a:r>
              <a:rPr sz="1400" b="0" i="0">
                <a:solidFill>
                  <a:srgbClr val="1A2744"/>
                </a:solidFill>
                <a:latin typeface="Aptos"/>
              </a:rPr>
              <a:t>License selection, UC policies, dependencies</a:t>
            </a:r>
          </a:p>
        </p:txBody>
      </p:sp>
      <p:sp>
        <p:nvSpPr>
          <p:cNvPr id="26" name="TextBox 25"/>
          <p:cNvSpPr txBox="1"/>
          <p:nvPr/>
        </p:nvSpPr>
        <p:spPr>
          <a:xfrm>
            <a:off x="7452360" y="5074920"/>
            <a:ext cx="365760" cy="411480"/>
          </a:xfrm>
          <a:prstGeom prst="rect">
            <a:avLst/>
          </a:prstGeom>
          <a:noFill/>
        </p:spPr>
        <p:txBody>
          <a:bodyPr wrap="square">
            <a:spAutoFit/>
          </a:bodyPr>
          <a:lstStyle/>
          <a:p>
            <a:pPr algn="ctr"/>
            <a:r>
              <a:rPr sz="1800" b="1" i="0">
                <a:solidFill>
                  <a:srgbClr val="FF9100"/>
                </a:solidFill>
                <a:latin typeface="Aptos"/>
              </a:rPr>
              <a:t>→</a:t>
            </a:r>
          </a:p>
        </p:txBody>
      </p:sp>
      <p:sp>
        <p:nvSpPr>
          <p:cNvPr id="27" name="Rounded Rectangle 26"/>
          <p:cNvSpPr/>
          <p:nvPr/>
        </p:nvSpPr>
        <p:spPr>
          <a:xfrm>
            <a:off x="8046720" y="3429000"/>
            <a:ext cx="365760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0" y="3611880"/>
            <a:ext cx="3291840" cy="411480"/>
          </a:xfrm>
          <a:prstGeom prst="rect">
            <a:avLst/>
          </a:prstGeom>
          <a:noFill/>
        </p:spPr>
        <p:txBody>
          <a:bodyPr wrap="square">
            <a:spAutoFit/>
          </a:bodyPr>
          <a:lstStyle/>
          <a:p>
            <a:pPr algn="l"/>
            <a:r>
              <a:rPr sz="1400" b="1" i="0">
                <a:solidFill>
                  <a:srgbClr val="FF9100"/>
                </a:solidFill>
                <a:latin typeface="Aptos"/>
              </a:rPr>
              <a:t>Strategic Practices &amp; Career Development</a:t>
            </a:r>
          </a:p>
        </p:txBody>
      </p:sp>
      <p:sp>
        <p:nvSpPr>
          <p:cNvPr id="29" name="TextBox 28"/>
          <p:cNvSpPr txBox="1"/>
          <p:nvPr/>
        </p:nvSpPr>
        <p:spPr>
          <a:xfrm>
            <a:off x="8229600" y="4069080"/>
            <a:ext cx="3291840" cy="1417319"/>
          </a:xfrm>
          <a:prstGeom prst="rect">
            <a:avLst/>
          </a:prstGeom>
          <a:noFill/>
        </p:spPr>
        <p:txBody>
          <a:bodyPr wrap="square">
            <a:spAutoFit/>
          </a:bodyPr>
          <a:lstStyle/>
          <a:p>
            <a:pPr algn="l"/>
            <a:r>
              <a:rPr sz="1400" b="0" i="0">
                <a:solidFill>
                  <a:srgbClr val="1A2744"/>
                </a:solidFill>
                <a:latin typeface="Aptos"/>
              </a:rPr>
              <a:t>FAIR software, reproducibility, grant alignment</a:t>
            </a:r>
          </a:p>
        </p:txBody>
      </p:sp>
      <p:sp>
        <p:nvSpPr>
          <p:cNvPr id="30" name="Rectangle 29"/>
          <p:cNvSpPr/>
          <p:nvPr/>
        </p:nvSpPr>
        <p:spPr>
          <a:xfrm>
            <a:off x="11247120" y="3218688"/>
            <a:ext cx="5029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1247120" y="3218688"/>
            <a:ext cx="36576" cy="164592"/>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3383280"/>
            <a:ext cx="1097280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11247120" cy="731520"/>
          </a:xfrm>
          <a:prstGeom prst="rect">
            <a:avLst/>
          </a:prstGeom>
          <a:noFill/>
        </p:spPr>
        <p:txBody>
          <a:bodyPr wrap="square">
            <a:spAutoFit/>
          </a:bodyPr>
          <a:lstStyle/>
          <a:p>
            <a:pPr algn="l"/>
            <a:r>
              <a:rPr sz="2800" b="1" i="0">
                <a:solidFill>
                  <a:srgbClr val="FFFFFF"/>
                </a:solidFill>
                <a:latin typeface="Aptos"/>
              </a:rPr>
              <a:t>Eliminating Technical Debt Through Automation</a:t>
            </a:r>
          </a:p>
        </p:txBody>
      </p:sp>
      <p:sp>
        <p:nvSpPr>
          <p:cNvPr id="7" name="Rectangle 6"/>
          <p:cNvSpPr/>
          <p:nvPr/>
        </p:nvSpPr>
        <p:spPr>
          <a:xfrm>
            <a:off x="457200" y="868680"/>
            <a:ext cx="112471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097280"/>
            <a:ext cx="3657600" cy="1417320"/>
          </a:xfrm>
          <a:prstGeom prst="roundRect">
            <a:avLst>
              <a:gd name="adj" fmla="val 8000"/>
            </a:avLst>
          </a:prstGeom>
          <a:solidFill>
            <a:srgbClr val="1E2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097280"/>
            <a:ext cx="64008" cy="14173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115568"/>
            <a:ext cx="3474720" cy="914400"/>
          </a:xfrm>
          <a:prstGeom prst="rect">
            <a:avLst/>
          </a:prstGeom>
          <a:noFill/>
        </p:spPr>
        <p:txBody>
          <a:bodyPr wrap="square">
            <a:spAutoFit/>
          </a:bodyPr>
          <a:lstStyle/>
          <a:p>
            <a:pPr algn="ctr"/>
            <a:r>
              <a:rPr sz="5200" b="1" i="0">
                <a:solidFill>
                  <a:srgbClr val="FF9100"/>
                </a:solidFill>
                <a:latin typeface="Aptos"/>
              </a:rPr>
              <a:t>35+</a:t>
            </a:r>
          </a:p>
        </p:txBody>
      </p:sp>
      <p:sp>
        <p:nvSpPr>
          <p:cNvPr id="11" name="TextBox 10"/>
          <p:cNvSpPr txBox="1"/>
          <p:nvPr/>
        </p:nvSpPr>
        <p:spPr>
          <a:xfrm>
            <a:off x="475488" y="1938528"/>
            <a:ext cx="3474720" cy="502920"/>
          </a:xfrm>
          <a:prstGeom prst="rect">
            <a:avLst/>
          </a:prstGeom>
          <a:noFill/>
        </p:spPr>
        <p:txBody>
          <a:bodyPr wrap="square">
            <a:spAutoFit/>
          </a:bodyPr>
          <a:lstStyle/>
          <a:p>
            <a:pPr algn="ctr"/>
            <a:r>
              <a:rPr sz="1100" b="0" i="0">
                <a:solidFill>
                  <a:srgbClr val="E8EDF5"/>
                </a:solidFill>
                <a:latin typeface="Aptos"/>
              </a:rPr>
              <a:t>hrs of manual labor saved</a:t>
            </a:r>
          </a:p>
        </p:txBody>
      </p:sp>
      <p:sp>
        <p:nvSpPr>
          <p:cNvPr id="12" name="Rounded Rectangle 11"/>
          <p:cNvSpPr/>
          <p:nvPr/>
        </p:nvSpPr>
        <p:spPr>
          <a:xfrm>
            <a:off x="4270248" y="1097280"/>
            <a:ext cx="3657600" cy="1417320"/>
          </a:xfrm>
          <a:prstGeom prst="roundRect">
            <a:avLst>
              <a:gd name="adj" fmla="val 8000"/>
            </a:avLst>
          </a:prstGeom>
          <a:solidFill>
            <a:srgbClr val="1E2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0248" y="1097280"/>
            <a:ext cx="64008" cy="14173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9976" y="1115568"/>
            <a:ext cx="3474720" cy="914400"/>
          </a:xfrm>
          <a:prstGeom prst="rect">
            <a:avLst/>
          </a:prstGeom>
          <a:noFill/>
        </p:spPr>
        <p:txBody>
          <a:bodyPr wrap="square">
            <a:spAutoFit/>
          </a:bodyPr>
          <a:lstStyle/>
          <a:p>
            <a:pPr algn="ctr"/>
            <a:r>
              <a:rPr sz="5200" b="1" i="0">
                <a:solidFill>
                  <a:srgbClr val="FF9100"/>
                </a:solidFill>
                <a:latin typeface="Aptos"/>
              </a:rPr>
              <a:t>98%</a:t>
            </a:r>
          </a:p>
        </p:txBody>
      </p:sp>
      <p:sp>
        <p:nvSpPr>
          <p:cNvPr id="15" name="TextBox 14"/>
          <p:cNvSpPr txBox="1"/>
          <p:nvPr/>
        </p:nvSpPr>
        <p:spPr>
          <a:xfrm>
            <a:off x="4379976" y="1938528"/>
            <a:ext cx="3474720" cy="502920"/>
          </a:xfrm>
          <a:prstGeom prst="rect">
            <a:avLst/>
          </a:prstGeom>
          <a:noFill/>
        </p:spPr>
        <p:txBody>
          <a:bodyPr wrap="square">
            <a:spAutoFit/>
          </a:bodyPr>
          <a:lstStyle/>
          <a:p>
            <a:pPr algn="ctr"/>
            <a:r>
              <a:rPr sz="1100" b="0" i="0">
                <a:solidFill>
                  <a:srgbClr val="E8EDF5"/>
                </a:solidFill>
                <a:latin typeface="Aptos"/>
              </a:rPr>
              <a:t>time estimate coverage</a:t>
            </a:r>
          </a:p>
        </p:txBody>
      </p:sp>
      <p:sp>
        <p:nvSpPr>
          <p:cNvPr id="16" name="Rounded Rectangle 15"/>
          <p:cNvSpPr/>
          <p:nvPr/>
        </p:nvSpPr>
        <p:spPr>
          <a:xfrm>
            <a:off x="8165592" y="1097280"/>
            <a:ext cx="3657600" cy="1417320"/>
          </a:xfrm>
          <a:prstGeom prst="roundRect">
            <a:avLst>
              <a:gd name="adj" fmla="val 8000"/>
            </a:avLst>
          </a:prstGeom>
          <a:solidFill>
            <a:srgbClr val="1E2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65592" y="1097280"/>
            <a:ext cx="64008" cy="14173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115568"/>
            <a:ext cx="3474720" cy="914400"/>
          </a:xfrm>
          <a:prstGeom prst="rect">
            <a:avLst/>
          </a:prstGeom>
          <a:noFill/>
        </p:spPr>
        <p:txBody>
          <a:bodyPr wrap="square">
            <a:spAutoFit/>
          </a:bodyPr>
          <a:lstStyle/>
          <a:p>
            <a:pPr algn="ctr"/>
            <a:r>
              <a:rPr sz="5200" b="1" i="0">
                <a:solidFill>
                  <a:srgbClr val="FF9100"/>
                </a:solidFill>
                <a:latin typeface="Aptos"/>
              </a:rPr>
              <a:t>88%</a:t>
            </a:r>
          </a:p>
        </p:txBody>
      </p:sp>
      <p:sp>
        <p:nvSpPr>
          <p:cNvPr id="19" name="TextBox 18"/>
          <p:cNvSpPr txBox="1"/>
          <p:nvPr/>
        </p:nvSpPr>
        <p:spPr>
          <a:xfrm>
            <a:off x="8275319" y="1938528"/>
            <a:ext cx="3474720" cy="502920"/>
          </a:xfrm>
          <a:prstGeom prst="rect">
            <a:avLst/>
          </a:prstGeom>
          <a:noFill/>
        </p:spPr>
        <p:txBody>
          <a:bodyPr wrap="square">
            <a:spAutoFit/>
          </a:bodyPr>
          <a:lstStyle/>
          <a:p>
            <a:pPr algn="ctr"/>
            <a:r>
              <a:rPr sz="1100" b="0" i="0">
                <a:solidFill>
                  <a:srgbClr val="E8EDF5"/>
                </a:solidFill>
                <a:latin typeface="Aptos"/>
              </a:rPr>
              <a:t>author attribution coverage</a:t>
            </a:r>
          </a:p>
        </p:txBody>
      </p:sp>
      <p:sp>
        <p:nvSpPr>
          <p:cNvPr id="20" name="Rounded Rectangle 19"/>
          <p:cNvSpPr/>
          <p:nvPr/>
        </p:nvSpPr>
        <p:spPr>
          <a:xfrm>
            <a:off x="365760" y="2743200"/>
            <a:ext cx="2651760" cy="3154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2926080"/>
            <a:ext cx="2286000" cy="411480"/>
          </a:xfrm>
          <a:prstGeom prst="rect">
            <a:avLst/>
          </a:prstGeom>
          <a:noFill/>
        </p:spPr>
        <p:txBody>
          <a:bodyPr wrap="square">
            <a:spAutoFit/>
          </a:bodyPr>
          <a:lstStyle/>
          <a:p>
            <a:pPr algn="l"/>
            <a:r>
              <a:rPr sz="1400" b="1" i="0">
                <a:solidFill>
                  <a:srgbClr val="FF9100"/>
                </a:solidFill>
                <a:latin typeface="Aptos"/>
              </a:rPr>
              <a:t>Raw Input</a:t>
            </a:r>
          </a:p>
        </p:txBody>
      </p:sp>
      <p:sp>
        <p:nvSpPr>
          <p:cNvPr id="22" name="TextBox 21"/>
          <p:cNvSpPr txBox="1"/>
          <p:nvPr/>
        </p:nvSpPr>
        <p:spPr>
          <a:xfrm>
            <a:off x="548640" y="3383280"/>
            <a:ext cx="2286000" cy="1384995"/>
          </a:xfrm>
          <a:prstGeom prst="rect">
            <a:avLst/>
          </a:prstGeom>
          <a:noFill/>
        </p:spPr>
        <p:txBody>
          <a:bodyPr wrap="square">
            <a:spAutoFit/>
          </a:bodyPr>
          <a:lstStyle/>
          <a:p>
            <a:pPr algn="l"/>
            <a:r>
              <a:rPr sz="1400" b="0" i="0" dirty="0">
                <a:solidFill>
                  <a:srgbClr val="1A2744"/>
                </a:solidFill>
                <a:latin typeface="Aptos"/>
              </a:rPr>
              <a:t>Google Sheets Inventory
• Fragmented URLs
• Missing tags
• Inconsistent dates
• No time estimates</a:t>
            </a:r>
          </a:p>
        </p:txBody>
      </p:sp>
      <p:sp>
        <p:nvSpPr>
          <p:cNvPr id="23" name="TextBox 22"/>
          <p:cNvSpPr txBox="1"/>
          <p:nvPr/>
        </p:nvSpPr>
        <p:spPr>
          <a:xfrm>
            <a:off x="3108960" y="3566160"/>
            <a:ext cx="822960" cy="640080"/>
          </a:xfrm>
          <a:prstGeom prst="rect">
            <a:avLst/>
          </a:prstGeom>
          <a:noFill/>
        </p:spPr>
        <p:txBody>
          <a:bodyPr wrap="square">
            <a:spAutoFit/>
          </a:bodyPr>
          <a:lstStyle/>
          <a:p>
            <a:pPr algn="ctr"/>
            <a:r>
              <a:rPr sz="3800" b="0" i="0">
                <a:solidFill>
                  <a:srgbClr val="FF9100"/>
                </a:solidFill>
                <a:latin typeface="Aptos"/>
              </a:rPr>
              <a:t>➔</a:t>
            </a:r>
          </a:p>
        </p:txBody>
      </p:sp>
      <p:sp>
        <p:nvSpPr>
          <p:cNvPr id="24" name="Rounded Rectangle 23"/>
          <p:cNvSpPr/>
          <p:nvPr/>
        </p:nvSpPr>
        <p:spPr>
          <a:xfrm>
            <a:off x="3977639" y="2743200"/>
            <a:ext cx="4251960" cy="3154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60520" y="2926080"/>
            <a:ext cx="3886200" cy="411480"/>
          </a:xfrm>
          <a:prstGeom prst="rect">
            <a:avLst/>
          </a:prstGeom>
          <a:noFill/>
        </p:spPr>
        <p:txBody>
          <a:bodyPr wrap="square">
            <a:spAutoFit/>
          </a:bodyPr>
          <a:lstStyle/>
          <a:p>
            <a:pPr algn="l"/>
            <a:r>
              <a:rPr sz="1400" b="1" i="0">
                <a:solidFill>
                  <a:srgbClr val="FF9100"/>
                </a:solidFill>
                <a:latin typeface="Aptos"/>
              </a:rPr>
              <a:t>Processing Pipeline</a:t>
            </a:r>
          </a:p>
        </p:txBody>
      </p:sp>
      <p:sp>
        <p:nvSpPr>
          <p:cNvPr id="26" name="TextBox 25"/>
          <p:cNvSpPr txBox="1"/>
          <p:nvPr/>
        </p:nvSpPr>
        <p:spPr>
          <a:xfrm>
            <a:off x="4160520" y="3383280"/>
            <a:ext cx="3886200" cy="954107"/>
          </a:xfrm>
          <a:prstGeom prst="rect">
            <a:avLst/>
          </a:prstGeom>
          <a:noFill/>
        </p:spPr>
        <p:txBody>
          <a:bodyPr wrap="square">
            <a:spAutoFit/>
          </a:bodyPr>
          <a:lstStyle/>
          <a:p>
            <a:pPr algn="l"/>
            <a:r>
              <a:rPr sz="1400" b="0" i="0" dirty="0">
                <a:solidFill>
                  <a:srgbClr val="1A2744"/>
                </a:solidFill>
                <a:latin typeface="Aptos"/>
              </a:rPr>
              <a:t>• Slug generation (100% coverage)
• IETF language standardization
• Word-count → ISO 8601 time estimation
• Automated web-scraping for authors/licenses</a:t>
            </a:r>
          </a:p>
        </p:txBody>
      </p:sp>
      <p:sp>
        <p:nvSpPr>
          <p:cNvPr id="27" name="TextBox 26"/>
          <p:cNvSpPr txBox="1"/>
          <p:nvPr/>
        </p:nvSpPr>
        <p:spPr>
          <a:xfrm>
            <a:off x="8321040" y="3566160"/>
            <a:ext cx="822960" cy="640080"/>
          </a:xfrm>
          <a:prstGeom prst="rect">
            <a:avLst/>
          </a:prstGeom>
          <a:noFill/>
        </p:spPr>
        <p:txBody>
          <a:bodyPr wrap="square">
            <a:spAutoFit/>
          </a:bodyPr>
          <a:lstStyle/>
          <a:p>
            <a:pPr algn="ctr"/>
            <a:r>
              <a:rPr sz="3800" b="0" i="0">
                <a:solidFill>
                  <a:srgbClr val="FF9100"/>
                </a:solidFill>
                <a:latin typeface="Aptos"/>
              </a:rPr>
              <a:t>➔</a:t>
            </a:r>
          </a:p>
        </p:txBody>
      </p:sp>
      <p:sp>
        <p:nvSpPr>
          <p:cNvPr id="28" name="Rounded Rectangle 27"/>
          <p:cNvSpPr/>
          <p:nvPr/>
        </p:nvSpPr>
        <p:spPr>
          <a:xfrm>
            <a:off x="9189720" y="2743200"/>
            <a:ext cx="2651760" cy="31546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72600" y="2926080"/>
            <a:ext cx="2286000" cy="411480"/>
          </a:xfrm>
          <a:prstGeom prst="rect">
            <a:avLst/>
          </a:prstGeom>
          <a:noFill/>
        </p:spPr>
        <p:txBody>
          <a:bodyPr wrap="square">
            <a:spAutoFit/>
          </a:bodyPr>
          <a:lstStyle/>
          <a:p>
            <a:pPr algn="l"/>
            <a:r>
              <a:rPr sz="1400" b="1" i="0">
                <a:solidFill>
                  <a:srgbClr val="FF9100"/>
                </a:solidFill>
                <a:latin typeface="Aptos"/>
              </a:rPr>
              <a:t>Deployment</a:t>
            </a:r>
          </a:p>
        </p:txBody>
      </p:sp>
      <p:sp>
        <p:nvSpPr>
          <p:cNvPr id="30" name="TextBox 29"/>
          <p:cNvSpPr txBox="1"/>
          <p:nvPr/>
        </p:nvSpPr>
        <p:spPr>
          <a:xfrm>
            <a:off x="9372600" y="3383280"/>
            <a:ext cx="2286000" cy="2423160"/>
          </a:xfrm>
          <a:prstGeom prst="rect">
            <a:avLst/>
          </a:prstGeom>
          <a:noFill/>
        </p:spPr>
        <p:txBody>
          <a:bodyPr wrap="square">
            <a:spAutoFit/>
          </a:bodyPr>
          <a:lstStyle/>
          <a:p>
            <a:pPr algn="l"/>
            <a:r>
              <a:rPr sz="1300" b="0" i="0" dirty="0" err="1">
                <a:solidFill>
                  <a:srgbClr val="1A2744"/>
                </a:solidFill>
                <a:latin typeface="Aptos"/>
              </a:rPr>
              <a:t>Keystatic</a:t>
            </a:r>
            <a:r>
              <a:rPr sz="1300" b="0" i="0" dirty="0">
                <a:solidFill>
                  <a:srgbClr val="1A2744"/>
                </a:solidFill>
                <a:latin typeface="Aptos"/>
              </a:rPr>
              <a:t> CMS
↓
Astro Frontend
↓
GitHub Pages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10169"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11247120" cy="731520"/>
          </a:xfrm>
          <a:prstGeom prst="rect">
            <a:avLst/>
          </a:prstGeom>
          <a:noFill/>
        </p:spPr>
        <p:txBody>
          <a:bodyPr wrap="square">
            <a:spAutoFit/>
          </a:bodyPr>
          <a:lstStyle/>
          <a:p>
            <a:pPr algn="l"/>
            <a:r>
              <a:rPr sz="3400" b="1" i="0">
                <a:solidFill>
                  <a:srgbClr val="FFFFFF"/>
                </a:solidFill>
                <a:latin typeface="Aptos"/>
              </a:rPr>
              <a:t>Built by a System-Wide Community</a:t>
            </a:r>
          </a:p>
        </p:txBody>
      </p:sp>
      <p:sp>
        <p:nvSpPr>
          <p:cNvPr id="7" name="Rectangle 6"/>
          <p:cNvSpPr/>
          <p:nvPr/>
        </p:nvSpPr>
        <p:spPr>
          <a:xfrm>
            <a:off x="457200" y="868680"/>
            <a:ext cx="112471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097280"/>
            <a:ext cx="3566160" cy="3657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200400" cy="369332"/>
          </a:xfrm>
          <a:prstGeom prst="rect">
            <a:avLst/>
          </a:prstGeom>
          <a:noFill/>
        </p:spPr>
        <p:txBody>
          <a:bodyPr wrap="square">
            <a:spAutoFit/>
          </a:bodyPr>
          <a:lstStyle/>
          <a:p>
            <a:pPr algn="l"/>
            <a:r>
              <a:rPr b="1" i="0" dirty="0">
                <a:solidFill>
                  <a:srgbClr val="FF9100"/>
                </a:solidFill>
                <a:latin typeface="Aptos"/>
              </a:rPr>
              <a:t>Education Committee</a:t>
            </a:r>
          </a:p>
        </p:txBody>
      </p:sp>
      <p:sp>
        <p:nvSpPr>
          <p:cNvPr id="10" name="TextBox 9"/>
          <p:cNvSpPr txBox="1"/>
          <p:nvPr/>
        </p:nvSpPr>
        <p:spPr>
          <a:xfrm>
            <a:off x="640080" y="1664208"/>
            <a:ext cx="3200400" cy="320040"/>
          </a:xfrm>
          <a:prstGeom prst="rect">
            <a:avLst/>
          </a:prstGeom>
          <a:noFill/>
        </p:spPr>
        <p:txBody>
          <a:bodyPr wrap="square">
            <a:spAutoFit/>
          </a:bodyPr>
          <a:lstStyle/>
          <a:p>
            <a:pPr algn="l"/>
            <a:r>
              <a:rPr sz="1300" b="0" i="1">
                <a:solidFill>
                  <a:srgbClr val="1A2744"/>
                </a:solidFill>
                <a:latin typeface="Aptos"/>
              </a:rPr>
              <a:t>(Content &amp; Strategy)</a:t>
            </a:r>
          </a:p>
        </p:txBody>
      </p:sp>
      <p:sp>
        <p:nvSpPr>
          <p:cNvPr id="11" name="Rectangle 10"/>
          <p:cNvSpPr/>
          <p:nvPr/>
        </p:nvSpPr>
        <p:spPr>
          <a:xfrm>
            <a:off x="594360" y="2331720"/>
            <a:ext cx="3291840" cy="457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423160"/>
            <a:ext cx="3200400" cy="1492716"/>
          </a:xfrm>
          <a:prstGeom prst="rect">
            <a:avLst/>
          </a:prstGeom>
          <a:noFill/>
        </p:spPr>
        <p:txBody>
          <a:bodyPr wrap="square">
            <a:spAutoFit/>
          </a:bodyPr>
          <a:lstStyle/>
          <a:p>
            <a:r>
              <a:rPr sz="1300" b="0" i="0" dirty="0">
                <a:solidFill>
                  <a:srgbClr val="1A2744"/>
                </a:solidFill>
                <a:latin typeface="Aptos"/>
              </a:rPr>
              <a:t>Tim Dennis, Reid Otsuji</a:t>
            </a:r>
            <a:r>
              <a:rPr lang="en-US" sz="1300" b="0" i="0" dirty="0">
                <a:solidFill>
                  <a:srgbClr val="1A2744"/>
                </a:solidFill>
                <a:latin typeface="Aptos"/>
              </a:rPr>
              <a:t> (UCSD)</a:t>
            </a:r>
            <a:r>
              <a:rPr sz="1300" b="0" i="0" dirty="0">
                <a:solidFill>
                  <a:srgbClr val="1A2744"/>
                </a:solidFill>
                <a:latin typeface="Aptos"/>
              </a:rPr>
              <a:t>,
Karla Padilla</a:t>
            </a:r>
            <a:r>
              <a:rPr lang="en-US" sz="1300" dirty="0">
                <a:solidFill>
                  <a:srgbClr val="1A2744"/>
                </a:solidFill>
                <a:latin typeface="Aptos"/>
              </a:rPr>
              <a:t> (UCSD)</a:t>
            </a:r>
            <a:r>
              <a:rPr sz="1300" b="0" i="0" dirty="0">
                <a:solidFill>
                  <a:srgbClr val="1A2744"/>
                </a:solidFill>
                <a:latin typeface="Aptos"/>
              </a:rPr>
              <a:t>, David Minor</a:t>
            </a:r>
            <a:r>
              <a:rPr lang="en-US" sz="1300" dirty="0">
                <a:solidFill>
                  <a:srgbClr val="1A2744"/>
                </a:solidFill>
                <a:latin typeface="Aptos"/>
              </a:rPr>
              <a:t> (UCSD)</a:t>
            </a:r>
            <a:r>
              <a:rPr sz="1300" b="0" i="0" dirty="0">
                <a:solidFill>
                  <a:srgbClr val="1A2744"/>
                </a:solidFill>
                <a:latin typeface="Aptos"/>
              </a:rPr>
              <a:t>,
Laura Langdon</a:t>
            </a:r>
            <a:r>
              <a:rPr lang="en-US" sz="1300" b="0" i="0" dirty="0">
                <a:solidFill>
                  <a:srgbClr val="1A2744"/>
                </a:solidFill>
                <a:latin typeface="Aptos"/>
              </a:rPr>
              <a:t> (OSPO Community </a:t>
            </a:r>
            <a:r>
              <a:rPr lang="en-US" sz="1300" b="0" i="0" dirty="0" err="1">
                <a:solidFill>
                  <a:srgbClr val="1A2744"/>
                </a:solidFill>
                <a:latin typeface="Aptos"/>
              </a:rPr>
              <a:t>Mgr</a:t>
            </a:r>
            <a:r>
              <a:rPr lang="en-US" sz="1300" b="0" i="0" dirty="0">
                <a:solidFill>
                  <a:srgbClr val="1A2744"/>
                </a:solidFill>
                <a:latin typeface="Aptos"/>
              </a:rPr>
              <a:t>)</a:t>
            </a:r>
            <a:r>
              <a:rPr sz="1300" b="0" i="0" dirty="0">
                <a:solidFill>
                  <a:srgbClr val="1A2744"/>
                </a:solidFill>
                <a:latin typeface="Aptos"/>
              </a:rPr>
              <a:t>
Curriculum mapping, gap
analysis, and learner
persona development.</a:t>
            </a:r>
          </a:p>
        </p:txBody>
      </p:sp>
      <p:sp>
        <p:nvSpPr>
          <p:cNvPr id="13" name="Rounded Rectangle 12"/>
          <p:cNvSpPr/>
          <p:nvPr/>
        </p:nvSpPr>
        <p:spPr>
          <a:xfrm>
            <a:off x="4206240" y="1097280"/>
            <a:ext cx="3429000" cy="36941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1280160"/>
            <a:ext cx="3200400" cy="369332"/>
          </a:xfrm>
          <a:prstGeom prst="rect">
            <a:avLst/>
          </a:prstGeom>
          <a:noFill/>
        </p:spPr>
        <p:txBody>
          <a:bodyPr wrap="square">
            <a:spAutoFit/>
          </a:bodyPr>
          <a:lstStyle/>
          <a:p>
            <a:pPr algn="l"/>
            <a:r>
              <a:rPr b="1" i="0" dirty="0">
                <a:solidFill>
                  <a:srgbClr val="FF9100"/>
                </a:solidFill>
                <a:latin typeface="Aptos"/>
              </a:rPr>
              <a:t>UI/UX Design</a:t>
            </a:r>
          </a:p>
        </p:txBody>
      </p:sp>
      <p:sp>
        <p:nvSpPr>
          <p:cNvPr id="15" name="TextBox 14"/>
          <p:cNvSpPr txBox="1"/>
          <p:nvPr/>
        </p:nvSpPr>
        <p:spPr>
          <a:xfrm>
            <a:off x="4389120" y="1664208"/>
            <a:ext cx="3200400" cy="320040"/>
          </a:xfrm>
          <a:prstGeom prst="rect">
            <a:avLst/>
          </a:prstGeom>
          <a:noFill/>
        </p:spPr>
        <p:txBody>
          <a:bodyPr wrap="square">
            <a:spAutoFit/>
          </a:bodyPr>
          <a:lstStyle/>
          <a:p>
            <a:pPr algn="l"/>
            <a:r>
              <a:rPr sz="1300" b="0" i="1">
                <a:solidFill>
                  <a:srgbClr val="1A2744"/>
                </a:solidFill>
                <a:latin typeface="Aptos"/>
              </a:rPr>
              <a:t>(The Interface)</a:t>
            </a:r>
          </a:p>
        </p:txBody>
      </p:sp>
      <p:sp>
        <p:nvSpPr>
          <p:cNvPr id="16" name="Rectangle 15"/>
          <p:cNvSpPr/>
          <p:nvPr/>
        </p:nvSpPr>
        <p:spPr>
          <a:xfrm>
            <a:off x="4343400" y="2331720"/>
            <a:ext cx="3291840" cy="457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0" y="2423160"/>
            <a:ext cx="3200400" cy="1292662"/>
          </a:xfrm>
          <a:prstGeom prst="rect">
            <a:avLst/>
          </a:prstGeom>
          <a:noFill/>
        </p:spPr>
        <p:txBody>
          <a:bodyPr wrap="square">
            <a:spAutoFit/>
          </a:bodyPr>
          <a:lstStyle/>
          <a:p>
            <a:pPr algn="l"/>
            <a:r>
              <a:rPr sz="1300" b="0" i="0" dirty="0">
                <a:solidFill>
                  <a:srgbClr val="1A2744"/>
                </a:solidFill>
                <a:latin typeface="Aptos"/>
              </a:rPr>
              <a:t>Lauren Reyes</a:t>
            </a:r>
            <a:r>
              <a:rPr lang="en-US" sz="1300" dirty="0">
                <a:solidFill>
                  <a:srgbClr val="1A2744"/>
                </a:solidFill>
                <a:latin typeface="Aptos"/>
              </a:rPr>
              <a:t> (UCSD)</a:t>
            </a:r>
            <a:r>
              <a:rPr sz="1300" b="0" i="0" dirty="0">
                <a:solidFill>
                  <a:srgbClr val="1A2744"/>
                </a:solidFill>
                <a:latin typeface="Aptos"/>
              </a:rPr>
              <a:t>
Executing the Figma-to-Astro
transition, creating the
3-column responsive grid,
and unified navigation.</a:t>
            </a:r>
          </a:p>
        </p:txBody>
      </p:sp>
      <p:sp>
        <p:nvSpPr>
          <p:cNvPr id="18" name="Rounded Rectangle 17"/>
          <p:cNvSpPr/>
          <p:nvPr/>
        </p:nvSpPr>
        <p:spPr>
          <a:xfrm>
            <a:off x="7955279" y="1097280"/>
            <a:ext cx="3429000" cy="369417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38159" y="1280160"/>
            <a:ext cx="3200400" cy="369332"/>
          </a:xfrm>
          <a:prstGeom prst="rect">
            <a:avLst/>
          </a:prstGeom>
          <a:noFill/>
        </p:spPr>
        <p:txBody>
          <a:bodyPr wrap="square">
            <a:spAutoFit/>
          </a:bodyPr>
          <a:lstStyle/>
          <a:p>
            <a:pPr algn="l"/>
            <a:r>
              <a:rPr b="1" i="0" dirty="0">
                <a:solidFill>
                  <a:srgbClr val="FF9100"/>
                </a:solidFill>
                <a:latin typeface="Aptos"/>
              </a:rPr>
              <a:t>Student Developers</a:t>
            </a:r>
          </a:p>
        </p:txBody>
      </p:sp>
      <p:sp>
        <p:nvSpPr>
          <p:cNvPr id="20" name="TextBox 19"/>
          <p:cNvSpPr txBox="1"/>
          <p:nvPr/>
        </p:nvSpPr>
        <p:spPr>
          <a:xfrm>
            <a:off x="8138159" y="1664208"/>
            <a:ext cx="3200400" cy="320040"/>
          </a:xfrm>
          <a:prstGeom prst="rect">
            <a:avLst/>
          </a:prstGeom>
          <a:noFill/>
        </p:spPr>
        <p:txBody>
          <a:bodyPr wrap="square">
            <a:spAutoFit/>
          </a:bodyPr>
          <a:lstStyle/>
          <a:p>
            <a:pPr algn="l"/>
            <a:r>
              <a:rPr sz="1300" b="0" i="1">
                <a:solidFill>
                  <a:srgbClr val="1A2744"/>
                </a:solidFill>
                <a:latin typeface="Aptos"/>
              </a:rPr>
              <a:t>(The Infrastructure)</a:t>
            </a:r>
          </a:p>
        </p:txBody>
      </p:sp>
      <p:sp>
        <p:nvSpPr>
          <p:cNvPr id="21" name="Rectangle 20"/>
          <p:cNvSpPr/>
          <p:nvPr/>
        </p:nvSpPr>
        <p:spPr>
          <a:xfrm>
            <a:off x="8092440" y="2331720"/>
            <a:ext cx="3291840" cy="45720"/>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59" y="2423160"/>
            <a:ext cx="3200400" cy="1492716"/>
          </a:xfrm>
          <a:prstGeom prst="rect">
            <a:avLst/>
          </a:prstGeom>
          <a:noFill/>
        </p:spPr>
        <p:txBody>
          <a:bodyPr wrap="square">
            <a:spAutoFit/>
          </a:bodyPr>
          <a:lstStyle/>
          <a:p>
            <a:pPr algn="l"/>
            <a:r>
              <a:rPr sz="1300" b="0" i="0" dirty="0">
                <a:solidFill>
                  <a:srgbClr val="1A2744"/>
                </a:solidFill>
                <a:latin typeface="Aptos"/>
              </a:rPr>
              <a:t>OSPO Student Developer Team</a:t>
            </a:r>
            <a:r>
              <a:rPr lang="en-US" sz="1300" b="0" i="0" dirty="0">
                <a:solidFill>
                  <a:srgbClr val="1A2744"/>
                </a:solidFill>
                <a:latin typeface="Aptos"/>
              </a:rPr>
              <a:t>: Shawn Wang &amp; Gia Kim (UCLA) </a:t>
            </a:r>
            <a:r>
              <a:rPr sz="1300" b="0" i="0" dirty="0">
                <a:solidFill>
                  <a:srgbClr val="1A2744"/>
                </a:solidFill>
                <a:latin typeface="Aptos"/>
              </a:rPr>
              <a:t>
Engineering the </a:t>
            </a:r>
            <a:r>
              <a:rPr sz="1300" b="0" i="0" dirty="0" err="1">
                <a:solidFill>
                  <a:srgbClr val="1A2744"/>
                </a:solidFill>
                <a:latin typeface="Aptos"/>
              </a:rPr>
              <a:t>Keystatic</a:t>
            </a:r>
            <a:r>
              <a:rPr sz="1300" b="0" i="0" dirty="0">
                <a:solidFill>
                  <a:srgbClr val="1A2744"/>
                </a:solidFill>
                <a:latin typeface="Aptos"/>
              </a:rPr>
              <a:t> CMS
migration, automated metadata
pipelines, and legacy data
ingestion.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DA9ED2-52D0-B73C-0AE7-FC370A2D189A}"/>
              </a:ext>
            </a:extLst>
          </p:cNvPr>
          <p:cNvPicPr>
            <a:picLocks noChangeAspect="1"/>
          </p:cNvPicPr>
          <p:nvPr/>
        </p:nvPicPr>
        <p:blipFill>
          <a:blip r:embed="rId2"/>
          <a:stretch>
            <a:fillRect/>
          </a:stretch>
        </p:blipFill>
        <p:spPr>
          <a:xfrm>
            <a:off x="-138772" y="-78059"/>
            <a:ext cx="12330772" cy="69360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B4CAAF-3CC4-744E-B871-AD1EC74491A7}"/>
              </a:ext>
            </a:extLst>
          </p:cNvPr>
          <p:cNvPicPr>
            <a:picLocks noChangeAspect="1"/>
          </p:cNvPicPr>
          <p:nvPr/>
        </p:nvPicPr>
        <p:blipFill>
          <a:blip r:embed="rId2"/>
          <a:stretch>
            <a:fillRect/>
          </a:stretch>
        </p:blipFill>
        <p:spPr>
          <a:xfrm>
            <a:off x="0" y="-63422"/>
            <a:ext cx="12304750" cy="69214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2000" cy="7223760"/>
          </a:xfrm>
          <a:prstGeom prst="rect">
            <a:avLst/>
          </a:prstGeom>
          <a:gradFill>
            <a:gsLst>
              <a:gs pos="0">
                <a:srgbClr val="0E1B35"/>
              </a:gs>
              <a:gs pos="38000">
                <a:srgbClr val="174A60"/>
              </a:gs>
              <a:gs pos="100000">
                <a:srgbClr val="0C173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118872"/>
            <a:ext cx="11953951" cy="6620256"/>
          </a:xfrm>
          <a:prstGeom prst="rect">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0" y="0"/>
            <a:ext cx="237744" cy="237744"/>
          </a:xfrm>
          <a:prstGeom prst="ellipse">
            <a:avLst/>
          </a:prstGeom>
          <a:noFill/>
          <a:ln w="9525">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036247" y="6702552"/>
            <a:ext cx="64008" cy="64008"/>
          </a:xfrm>
          <a:prstGeom prst="ellipse">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
            <a:ext cx="11247120" cy="731520"/>
          </a:xfrm>
          <a:prstGeom prst="rect">
            <a:avLst/>
          </a:prstGeom>
          <a:noFill/>
        </p:spPr>
        <p:txBody>
          <a:bodyPr wrap="square">
            <a:spAutoFit/>
          </a:bodyPr>
          <a:lstStyle/>
          <a:p>
            <a:pPr algn="l"/>
            <a:r>
              <a:rPr sz="3400" b="1" i="0" dirty="0">
                <a:solidFill>
                  <a:srgbClr val="FFFFFF"/>
                </a:solidFill>
                <a:latin typeface="Aptos"/>
              </a:rPr>
              <a:t>Let's Build Together</a:t>
            </a:r>
          </a:p>
        </p:txBody>
      </p:sp>
      <p:sp>
        <p:nvSpPr>
          <p:cNvPr id="7" name="Rectangle 6"/>
          <p:cNvSpPr/>
          <p:nvPr/>
        </p:nvSpPr>
        <p:spPr>
          <a:xfrm>
            <a:off x="457200" y="868680"/>
            <a:ext cx="11247120" cy="36576"/>
          </a:xfrm>
          <a:prstGeom prst="rect">
            <a:avLst/>
          </a:prstGeom>
          <a:solidFill>
            <a:srgbClr val="FF9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71600"/>
            <a:ext cx="1463040" cy="594360"/>
          </a:xfrm>
          <a:prstGeom prst="rect">
            <a:avLst/>
          </a:prstGeom>
          <a:noFill/>
        </p:spPr>
        <p:txBody>
          <a:bodyPr wrap="none">
            <a:spAutoFit/>
          </a:bodyPr>
          <a:lstStyle/>
          <a:p>
            <a:pPr algn="l"/>
            <a:r>
              <a:rPr sz="2200" b="1" i="0" dirty="0">
                <a:solidFill>
                  <a:srgbClr val="FF9100"/>
                </a:solidFill>
                <a:latin typeface="Aptos"/>
              </a:rPr>
              <a:t>Learn:</a:t>
            </a:r>
          </a:p>
        </p:txBody>
      </p:sp>
      <p:sp>
        <p:nvSpPr>
          <p:cNvPr id="9" name="TextBox 8"/>
          <p:cNvSpPr txBox="1"/>
          <p:nvPr/>
        </p:nvSpPr>
        <p:spPr>
          <a:xfrm>
            <a:off x="2103120" y="1371600"/>
            <a:ext cx="5212080" cy="594360"/>
          </a:xfrm>
          <a:prstGeom prst="rect">
            <a:avLst/>
          </a:prstGeom>
          <a:noFill/>
        </p:spPr>
        <p:txBody>
          <a:bodyPr wrap="square">
            <a:spAutoFit/>
          </a:bodyPr>
          <a:lstStyle/>
          <a:p>
            <a:pPr algn="l"/>
            <a:r>
              <a:rPr sz="2000" b="0" i="0">
                <a:solidFill>
                  <a:srgbClr val="FFFFFF"/>
                </a:solidFill>
                <a:latin typeface="Aptos"/>
              </a:rPr>
              <a:t>Browse the 6 curated pathways.</a:t>
            </a:r>
          </a:p>
        </p:txBody>
      </p:sp>
      <p:sp>
        <p:nvSpPr>
          <p:cNvPr id="10" name="TextBox 9"/>
          <p:cNvSpPr txBox="1"/>
          <p:nvPr/>
        </p:nvSpPr>
        <p:spPr>
          <a:xfrm>
            <a:off x="548640" y="2651760"/>
            <a:ext cx="1463040" cy="594360"/>
          </a:xfrm>
          <a:prstGeom prst="rect">
            <a:avLst/>
          </a:prstGeom>
          <a:noFill/>
        </p:spPr>
        <p:txBody>
          <a:bodyPr wrap="none">
            <a:spAutoFit/>
          </a:bodyPr>
          <a:lstStyle/>
          <a:p>
            <a:pPr algn="l"/>
            <a:r>
              <a:rPr sz="2200" b="1" i="0">
                <a:solidFill>
                  <a:srgbClr val="FF9100"/>
                </a:solidFill>
                <a:latin typeface="Aptos"/>
              </a:rPr>
              <a:t>Teach:</a:t>
            </a:r>
          </a:p>
        </p:txBody>
      </p:sp>
      <p:sp>
        <p:nvSpPr>
          <p:cNvPr id="11" name="TextBox 10"/>
          <p:cNvSpPr txBox="1"/>
          <p:nvPr/>
        </p:nvSpPr>
        <p:spPr>
          <a:xfrm>
            <a:off x="2103120" y="2651760"/>
            <a:ext cx="5212080" cy="400110"/>
          </a:xfrm>
          <a:prstGeom prst="rect">
            <a:avLst/>
          </a:prstGeom>
          <a:noFill/>
        </p:spPr>
        <p:txBody>
          <a:bodyPr wrap="square">
            <a:spAutoFit/>
          </a:bodyPr>
          <a:lstStyle/>
          <a:p>
            <a:pPr algn="l"/>
            <a:r>
              <a:rPr lang="en-US" sz="2000" b="0" i="0" dirty="0">
                <a:solidFill>
                  <a:srgbClr val="FFFFFF"/>
                </a:solidFill>
                <a:latin typeface="Aptos"/>
              </a:rPr>
              <a:t>Identify</a:t>
            </a:r>
            <a:r>
              <a:rPr sz="2000" b="0" i="0" dirty="0">
                <a:solidFill>
                  <a:srgbClr val="FFFFFF"/>
                </a:solidFill>
                <a:latin typeface="Aptos"/>
              </a:rPr>
              <a:t> a lesson and run a workshop.</a:t>
            </a:r>
          </a:p>
        </p:txBody>
      </p:sp>
      <p:sp>
        <p:nvSpPr>
          <p:cNvPr id="12" name="TextBox 11"/>
          <p:cNvSpPr txBox="1"/>
          <p:nvPr/>
        </p:nvSpPr>
        <p:spPr>
          <a:xfrm>
            <a:off x="548640" y="3931920"/>
            <a:ext cx="1463040" cy="594360"/>
          </a:xfrm>
          <a:prstGeom prst="rect">
            <a:avLst/>
          </a:prstGeom>
          <a:noFill/>
        </p:spPr>
        <p:txBody>
          <a:bodyPr wrap="none">
            <a:spAutoFit/>
          </a:bodyPr>
          <a:lstStyle/>
          <a:p>
            <a:pPr algn="l"/>
            <a:r>
              <a:rPr sz="2200" b="1" i="0">
                <a:solidFill>
                  <a:srgbClr val="FF9100"/>
                </a:solidFill>
                <a:latin typeface="Aptos"/>
              </a:rPr>
              <a:t>Build:</a:t>
            </a:r>
          </a:p>
        </p:txBody>
      </p:sp>
      <p:sp>
        <p:nvSpPr>
          <p:cNvPr id="13" name="TextBox 12"/>
          <p:cNvSpPr txBox="1"/>
          <p:nvPr/>
        </p:nvSpPr>
        <p:spPr>
          <a:xfrm>
            <a:off x="2103120" y="3931920"/>
            <a:ext cx="5212080" cy="707886"/>
          </a:xfrm>
          <a:prstGeom prst="rect">
            <a:avLst/>
          </a:prstGeom>
          <a:noFill/>
        </p:spPr>
        <p:txBody>
          <a:bodyPr wrap="square">
            <a:spAutoFit/>
          </a:bodyPr>
          <a:lstStyle/>
          <a:p>
            <a:pPr algn="l"/>
            <a:r>
              <a:rPr lang="en-US" sz="2000" b="0" i="0" dirty="0">
                <a:solidFill>
                  <a:srgbClr val="FFFFFF"/>
                </a:solidFill>
                <a:latin typeface="Aptos"/>
              </a:rPr>
              <a:t>Express an interest being an author on </a:t>
            </a:r>
            <a:r>
              <a:rPr sz="2000" b="0" i="0" dirty="0">
                <a:solidFill>
                  <a:srgbClr val="FFFFFF"/>
                </a:solidFill>
                <a:latin typeface="Aptos"/>
              </a:rPr>
              <a:t>the missing curriculum gaps.</a:t>
            </a:r>
          </a:p>
        </p:txBody>
      </p:sp>
      <p:sp>
        <p:nvSpPr>
          <p:cNvPr id="14" name="Rounded Rectangle 13"/>
          <p:cNvSpPr/>
          <p:nvPr/>
        </p:nvSpPr>
        <p:spPr>
          <a:xfrm>
            <a:off x="7955279" y="1188720"/>
            <a:ext cx="3931920" cy="5303520"/>
          </a:xfrm>
          <a:prstGeom prst="roundRect">
            <a:avLst>
              <a:gd name="adj" fmla="val 8000"/>
            </a:avLst>
          </a:prstGeom>
          <a:solidFill>
            <a:srgbClr val="1E2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1371600"/>
            <a:ext cx="3566160" cy="347472"/>
          </a:xfrm>
          <a:prstGeom prst="rect">
            <a:avLst/>
          </a:prstGeom>
          <a:noFill/>
        </p:spPr>
        <p:txBody>
          <a:bodyPr wrap="square">
            <a:spAutoFit/>
          </a:bodyPr>
          <a:lstStyle/>
          <a:p>
            <a:pPr algn="l"/>
            <a:r>
              <a:rPr sz="1300" b="1" i="0">
                <a:solidFill>
                  <a:srgbClr val="FFE699"/>
                </a:solidFill>
                <a:latin typeface="Aptos"/>
              </a:rPr>
              <a:t>Website:</a:t>
            </a:r>
          </a:p>
        </p:txBody>
      </p:sp>
      <p:sp>
        <p:nvSpPr>
          <p:cNvPr id="16" name="TextBox 15"/>
          <p:cNvSpPr txBox="1"/>
          <p:nvPr/>
        </p:nvSpPr>
        <p:spPr>
          <a:xfrm>
            <a:off x="8138160" y="1719072"/>
            <a:ext cx="3566160" cy="276999"/>
          </a:xfrm>
          <a:prstGeom prst="rect">
            <a:avLst/>
          </a:prstGeom>
          <a:noFill/>
        </p:spPr>
        <p:txBody>
          <a:bodyPr wrap="square">
            <a:spAutoFit/>
          </a:bodyPr>
          <a:lstStyle/>
          <a:p>
            <a:r>
              <a:rPr lang="en-US" sz="1200" b="1" dirty="0">
                <a:solidFill>
                  <a:srgbClr val="FFFFFF"/>
                </a:solidFill>
                <a:latin typeface="Aptos"/>
              </a:rPr>
              <a:t>https://uc-</a:t>
            </a:r>
            <a:r>
              <a:rPr lang="en-US" sz="1200" b="1" dirty="0" err="1">
                <a:solidFill>
                  <a:srgbClr val="FFFFFF"/>
                </a:solidFill>
                <a:latin typeface="Aptos"/>
              </a:rPr>
              <a:t>ospo</a:t>
            </a:r>
            <a:r>
              <a:rPr lang="en-US" sz="1200" b="1" dirty="0">
                <a:solidFill>
                  <a:srgbClr val="FFFFFF"/>
                </a:solidFill>
                <a:latin typeface="Aptos"/>
              </a:rPr>
              <a:t>-</a:t>
            </a:r>
            <a:r>
              <a:rPr lang="en-US" sz="1200" b="1" dirty="0" err="1">
                <a:solidFill>
                  <a:srgbClr val="FFFFFF"/>
                </a:solidFill>
                <a:latin typeface="Aptos"/>
              </a:rPr>
              <a:t>network.github.io</a:t>
            </a:r>
            <a:r>
              <a:rPr lang="en-US" sz="1200" b="1" dirty="0">
                <a:solidFill>
                  <a:srgbClr val="FFFFFF"/>
                </a:solidFill>
                <a:latin typeface="Aptos"/>
              </a:rPr>
              <a:t>/education/</a:t>
            </a:r>
            <a:endParaRPr sz="1200" b="1" i="0" dirty="0">
              <a:solidFill>
                <a:srgbClr val="FFFFFF"/>
              </a:solidFill>
              <a:latin typeface="Aptos"/>
            </a:endParaRPr>
          </a:p>
        </p:txBody>
      </p:sp>
      <p:sp>
        <p:nvSpPr>
          <p:cNvPr id="17" name="TextBox 16"/>
          <p:cNvSpPr txBox="1"/>
          <p:nvPr/>
        </p:nvSpPr>
        <p:spPr>
          <a:xfrm>
            <a:off x="8138160" y="2212848"/>
            <a:ext cx="3566160" cy="347472"/>
          </a:xfrm>
          <a:prstGeom prst="rect">
            <a:avLst/>
          </a:prstGeom>
          <a:noFill/>
        </p:spPr>
        <p:txBody>
          <a:bodyPr wrap="square">
            <a:spAutoFit/>
          </a:bodyPr>
          <a:lstStyle/>
          <a:p>
            <a:pPr algn="l"/>
            <a:r>
              <a:rPr sz="1300" b="1" i="0" dirty="0">
                <a:solidFill>
                  <a:srgbClr val="FFE699"/>
                </a:solidFill>
                <a:latin typeface="Aptos"/>
              </a:rPr>
              <a:t>GitHub:</a:t>
            </a:r>
          </a:p>
        </p:txBody>
      </p:sp>
      <p:sp>
        <p:nvSpPr>
          <p:cNvPr id="18" name="TextBox 17"/>
          <p:cNvSpPr txBox="1"/>
          <p:nvPr/>
        </p:nvSpPr>
        <p:spPr>
          <a:xfrm>
            <a:off x="8138160" y="2560320"/>
            <a:ext cx="3566160" cy="347472"/>
          </a:xfrm>
          <a:prstGeom prst="rect">
            <a:avLst/>
          </a:prstGeom>
          <a:noFill/>
        </p:spPr>
        <p:txBody>
          <a:bodyPr wrap="square">
            <a:spAutoFit/>
          </a:bodyPr>
          <a:lstStyle/>
          <a:p>
            <a:pPr algn="l"/>
            <a:r>
              <a:rPr sz="1200" b="0" i="0">
                <a:solidFill>
                  <a:srgbClr val="FFFFFF"/>
                </a:solidFill>
                <a:latin typeface="Aptos"/>
              </a:rPr>
              <a:t>UC-OSPO-Network/education</a:t>
            </a:r>
          </a:p>
        </p:txBody>
      </p:sp>
      <p:pic>
        <p:nvPicPr>
          <p:cNvPr id="21" name="Picture 20">
            <a:extLst>
              <a:ext uri="{FF2B5EF4-FFF2-40B4-BE49-F238E27FC236}">
                <a16:creationId xmlns:a16="http://schemas.microsoft.com/office/drawing/2014/main" id="{D579C8BC-95A3-2AB5-8495-D282D17DBA40}"/>
              </a:ext>
            </a:extLst>
          </p:cNvPr>
          <p:cNvPicPr>
            <a:picLocks noChangeAspect="1"/>
          </p:cNvPicPr>
          <p:nvPr/>
        </p:nvPicPr>
        <p:blipFill>
          <a:blip r:embed="rId2"/>
          <a:stretch>
            <a:fillRect/>
          </a:stretch>
        </p:blipFill>
        <p:spPr>
          <a:xfrm>
            <a:off x="8359139" y="3051870"/>
            <a:ext cx="3124200" cy="3124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1788</TotalTime>
  <Words>900</Words>
  <Application>Microsoft Macintosh PowerPoint</Application>
  <PresentationFormat>Widescreen</PresentationFormat>
  <Paragraphs>80</Paragraphs>
  <Slides>14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Dennis, Tim</cp:lastModifiedBy>
  <cp:revision>6</cp:revision>
  <dcterms:created xsi:type="dcterms:W3CDTF">2013-01-27T09:14:16Z</dcterms:created>
  <dcterms:modified xsi:type="dcterms:W3CDTF">2026-04-23T15:04:30Z</dcterms:modified>
  <cp:category/>
</cp:coreProperties>
</file>