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Open: “You work with this software every day — Jupyter, R, Python, Git”</a:t>
            </a:r>
          </a:p>
          <a:p>
            <a:pPr lvl="0" indent="0" marL="0">
              <a:buNone/>
            </a:pPr>
          </a:p>
          <a:p>
            <a:pPr lvl="0"/>
            <a:r>
              <a:rPr/>
              <a:t>67% said “impossible” — let that land before moving on</a:t>
            </a:r>
          </a:p>
          <a:p>
            <a:pPr lvl="0" indent="0" marL="0">
              <a:buNone/>
            </a:pPr>
          </a:p>
          <a:p>
            <a:pPr lvl="0"/>
            <a:r>
              <a:rPr/>
              <a:t>RSE: a growing profession with no institutional home; that’s the gap this talk is about</a:t>
            </a:r>
          </a:p>
          <a:p>
            <a:pPr lvl="0" indent="0" marL="0">
              <a:buNone/>
            </a:pPr>
          </a:p>
          <a:p>
            <a:pPr lvl="0"/>
            <a:r>
              <a:rPr/>
              <a:t>$8.8T: use with administrators; this is not a niche concern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Bridge: “You helped make data a first-class output — software is the next frontier”</a:t>
            </a:r>
          </a:p>
          <a:p>
            <a:pPr lvl="0" indent="0" marL="0">
              <a:buNone/>
            </a:pPr>
          </a:p>
          <a:p>
            <a:pPr lvl="0"/>
            <a:r>
              <a:rPr/>
              <a:t>FAIR4RS (2022) = cite if challenged; same community, same logic</a:t>
            </a:r>
          </a:p>
          <a:p>
            <a:pPr lvl="0" indent="0" marL="0">
              <a:buNone/>
            </a:pPr>
          </a:p>
          <a:p>
            <a:pPr lvl="0"/>
            <a:r>
              <a:rPr/>
              <a:t>Berkeley row: audience-recognizable; Jupyter = procrastinating PhD student; Spark = Netflix Prize; Ray = now core OpenAI compute</a:t>
            </a:r>
          </a:p>
          <a:p>
            <a:pPr lvl="0" indent="0" marL="0">
              <a:buNone/>
            </a:pPr>
          </a:p>
          <a:p>
            <a:pPr lvl="0"/>
            <a:r>
              <a:rPr/>
              <a:t>Optional if time: “A 2000 UCSC grad student assembled the human genome on 50 borrowed PCs, three days ahead of a corporate supercomputer. Genome stayed public.”</a:t>
            </a:r>
          </a:p>
          <a:p>
            <a:pPr lvl="0" indent="0" marL="0">
              <a:buNone/>
            </a:pPr>
          </a:p>
          <a:p>
            <a:pPr lvl="0"/>
            <a:r>
              <a:rPr/>
              <a:t>Transition: “That track record is why a network model made sense.”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Map is live — hover for institution names; UC = orange cluster on the west coast</a:t>
            </a:r>
          </a:p>
          <a:p>
            <a:pPr lvl="0" indent="0" marL="0">
              <a:buNone/>
            </a:pPr>
          </a:p>
          <a:p>
            <a:pPr lvl="0"/>
            <a:r>
              <a:rPr/>
              <a:t>Academic model: less compliance than industry, more enabling researchers who are already doing OSS without support</a:t>
            </a:r>
          </a:p>
          <a:p>
            <a:pPr lvl="0" indent="0" marL="0">
              <a:buNone/>
            </a:pPr>
          </a:p>
          <a:p>
            <a:pPr lvl="0"/>
            <a:r>
              <a:rPr/>
              <a:t>34 and growing fast: was ~20 at CNI late 2024</a:t>
            </a:r>
          </a:p>
          <a:p>
            <a:pPr lvl="0" indent="0" marL="0">
              <a:buNone/>
            </a:pPr>
          </a:p>
          <a:p>
            <a:pPr lvl="0"/>
            <a:r>
              <a:rPr/>
              <a:t>Transition: “UC didn’t start one OSPO — it built a network of six.”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UCSC led: Ceph dissertation → CROSS → first UC OSPO 2022 → Sloan funded the network</a:t>
            </a:r>
          </a:p>
          <a:p>
            <a:pPr lvl="0" indent="0" marL="0">
              <a:buNone/>
            </a:pPr>
          </a:p>
          <a:p>
            <a:pPr lvl="0"/>
            <a:r>
              <a:rPr/>
              <a:t>Neutral convener (Ruff): “code in neutral trust — no single company can pull on it”; UC does this at system scale for policy and governance</a:t>
            </a:r>
          </a:p>
          <a:p>
            <a:pPr lvl="0" indent="0" marL="0">
              <a:buNone/>
            </a:pPr>
          </a:p>
          <a:p>
            <a:pPr lvl="0"/>
            <a:r>
              <a:rPr/>
              <a:t>$1.85M from Sloan; working on extension and UCOP pathway for permanent funding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Discovery: inventory, assess, make visible — work this audience knows; Juanita Gomez built UC ORB</a:t>
            </a:r>
          </a:p>
          <a:p>
            <a:pPr lvl="0" indent="0" marL="0">
              <a:buNone/>
            </a:pPr>
          </a:p>
          <a:p>
            <a:pPr lvl="0"/>
            <a:r>
              <a:rPr/>
              <a:t>Sustainability: 58% = not downloaders, stewards; nationally 60% unpaid, nearly two-thirds have quit or considered quitting (Tidelift 2024)</a:t>
            </a:r>
          </a:p>
          <a:p>
            <a:pPr lvl="0" indent="0" marL="0">
              <a:buNone/>
            </a:pPr>
          </a:p>
          <a:p>
            <a:pPr lvl="0"/>
            <a:r>
              <a:rPr/>
              <a:t>Licensing WG = clearest “only a network can do this” example: that table doesn’t exist without a system-level convener</a:t>
            </a:r>
          </a:p>
          <a:p>
            <a:pPr lvl="0" indent="0" marL="0">
              <a:buNone/>
            </a:pPr>
          </a:p>
          <a:p>
            <a:pPr lvl="0"/>
            <a:r>
              <a:rPr/>
              <a:t>Education: treat training like data — find gaps, don’t duplicate; living curriculum inventory, not a course catalog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Point 2 is the strongest argument for network over standalone OSPO</a:t>
            </a:r>
          </a:p>
          <a:p>
            <a:pPr lvl="0" indent="0" marL="0">
              <a:buNone/>
            </a:pPr>
          </a:p>
          <a:p>
            <a:pPr lvl="0"/>
            <a:r>
              <a:rPr/>
              <a:t>Point 4: a librarian at a smaller campus now draws on six campuses’ expertise</a:t>
            </a:r>
          </a:p>
          <a:p>
            <a:pPr lvl="0" indent="0" marL="0">
              <a:buNone/>
            </a:pPr>
          </a:p>
          <a:p>
            <a:pPr lvl="0"/>
            <a:r>
              <a:rPr/>
              <a:t>Open challenge: moving from grant funding to permanent infrastructure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pattern — distributed nodes, shared governance, thematic working groups — transfers to any large university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IASSIST members should be at the OSPO table — you work across the research lifecycle, understand data governance, run training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Ask the room: “Does your institution have an RSE group, research computing team, or data science center? That’s where this conversation starts.”</a:t>
            </a:r>
          </a:p>
          <a:p>
            <a:pPr lvl="0" indent="0" marL="0">
              <a:buNone/>
            </a:pPr>
          </a:p>
          <a:p>
            <a:pPr lvl="0"/>
            <a:r>
              <a:rPr/>
              <a:t>RSEs are often already adjacent to library services; this is a natural collaboration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Ask for hands: “How many have heard one of these questions in the last year?”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Key reframe: reactive (fixes the week) vs. capacity-building (shifts lab practice for students and future grants)</a:t>
            </a:r>
          </a:p>
          <a:p>
            <a:pPr lvl="0" indent="0" marL="0">
              <a:buNone/>
            </a:pPr>
          </a:p>
          <a:p>
            <a:pPr lvl="0"/>
            <a:r>
              <a:rPr/>
              <a:t>Resources live on ucospo.net now; use them in consultations today — no institutional approval needed</a:t>
            </a:r>
          </a:p>
          <a:p>
            <a:pPr lvl="0" indent="0" marL="0">
              <a:buNone/>
            </a:pPr>
          </a:p>
          <a:p>
            <a:pPr lvl="0"/>
            <a:r>
              <a:rPr/>
              <a:t>Close: “You don’t need to build an OSPO. Use the frame. Use the resources.”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Leave 2-3 min for questions; sustainability and “you’re already doing this” slides tend to generate them</a:t>
            </a:r>
          </a:p>
          <a:p>
            <a:pPr lvl="0" indent="0" marL="0">
              <a:buNone/>
            </a:pPr>
          </a:p>
          <a:p>
            <a:pPr lvl="0"/>
            <a:r>
              <a:rPr/>
              <a:t>UC ORB: good follow-up for anyone who wants to see the discovery tooling</a:t>
            </a:r>
          </a:p>
          <a:p>
            <a:pPr lvl="0" indent="0" marL="0">
              <a:buNone/>
            </a:pPr>
          </a:p>
          <a:p>
            <a:pPr lvl="0"/>
            <a:r>
              <a:rPr/>
              <a:t>CURIOSS: good for anyone whose institution is considering starting an OSPO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F33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FFFFFF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FFFFFF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F33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pPr lvl="0"/>
            <a:r>
              <a:rPr lang="en-US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FFFFFF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FFFFFF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1" y="1152525"/>
            <a:ext cx="3008313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1792288" y="4101704"/>
            <a:ext cx="54864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6629400" y="4670823"/>
            <a:ext cx="20574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hyperlink" Target="https://ucospo.net/education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8.xml" /><Relationship Id="rId3" Type="http://schemas.openxmlformats.org/officeDocument/2006/relationships/hyperlink" Target="https://ucospo.net/oss-resources/template-guides/readme-guide/" TargetMode="External" /><Relationship Id="rId4" Type="http://schemas.openxmlformats.org/officeDocument/2006/relationships/hyperlink" Target="https://ucospo.net/oss-resources/template-guides/license-guide/" TargetMode="External" /><Relationship Id="rId5" Type="http://schemas.openxmlformats.org/officeDocument/2006/relationships/hyperlink" Target="https://ucospo.net/oss-resources/template-guides/contributing-guide/" TargetMode="External" /><Relationship Id="rId6" Type="http://schemas.openxmlformats.org/officeDocument/2006/relationships/hyperlink" Target="https://ucospo.net/oss-resources/template-guides/code-of-conduct-guide/" TargetMode="External" /><Relationship Id="rId7" Type="http://schemas.openxmlformats.org/officeDocument/2006/relationships/hyperlink" Target="https://ucospo.net/oss-resources/growing-community/" TargetMode="External" /><Relationship Id="rId8" Type="http://schemas.openxmlformats.org/officeDocument/2006/relationships/hyperlink" Target="https://ucospo.net/research-software-citable-discoverable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9.xml" /><Relationship Id="rId3" Type="http://schemas.openxmlformats.org/officeDocument/2006/relationships/hyperlink" Target="https://ucospo.net" TargetMode="External" /><Relationship Id="rId4" Type="http://schemas.openxmlformats.org/officeDocument/2006/relationships/hyperlink" Target="https://ucospo.net/education" TargetMode="External" /><Relationship Id="rId5" Type="http://schemas.openxmlformats.org/officeDocument/2006/relationships/hyperlink" Target="https://curioss.org" TargetMode="External" /><Relationship Id="rId6" Type="http://schemas.openxmlformats.org/officeDocument/2006/relationships/hyperlink" Target="https://orcid.org/0000-0001-6632-3812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38/s41597-022-01710-x" TargetMode="External" /><Relationship Id="rId3" Type="http://schemas.openxmlformats.org/officeDocument/2006/relationships/hyperlink" Target="https://doi.org/10.21105/joss.00027" TargetMode="External" /><Relationship Id="rId4" Type="http://schemas.openxmlformats.org/officeDocument/2006/relationships/hyperlink" Target="https://doi.org/10.1109/TCOM.1974.1092259" TargetMode="External" /><Relationship Id="rId5" Type="http://schemas.openxmlformats.org/officeDocument/2006/relationships/hyperlink" Target="https://doi.org/10.1016/j.jneumeth.2003.10.009" TargetMode="External" /><Relationship Id="rId6" Type="http://schemas.openxmlformats.org/officeDocument/2006/relationships/hyperlink" Target="https://doi.org/10.1371/journal.pcbi.1005659" TargetMode="External" /><Relationship Id="rId7" Type="http://schemas.openxmlformats.org/officeDocument/2006/relationships/hyperlink" Target="https://arxiv.org/abs/2506.18359" TargetMode="External" /><Relationship Id="rId8" Type="http://schemas.openxmlformats.org/officeDocument/2006/relationships/hyperlink" Target="https://doi.org/10.5281/zenodo.14809" TargetMode="External" /><Relationship Id="rId9" Type="http://schemas.openxmlformats.org/officeDocument/2006/relationships/hyperlink" Target="https://doi.org/10.2139/ssrn.4693148" TargetMode="External" /><Relationship Id="rId10" Type="http://schemas.openxmlformats.org/officeDocument/2006/relationships/hyperlink" Target="https://doi.org/10.1101/gr.229102" TargetMode="External" /><Relationship Id="rId11" Type="http://schemas.openxmlformats.org/officeDocument/2006/relationships/hyperlink" Target="https://doi.org/10.3233/978-1-61499-649-1-87" TargetMode="External" /><Relationship Id="rId12" Type="http://schemas.openxmlformats.org/officeDocument/2006/relationships/hyperlink" Target="https://www.iana.org/time-zones" TargetMode="External" /><Relationship Id="rId13" Type="http://schemas.openxmlformats.org/officeDocument/2006/relationships/hyperlink" Target="https://youtu.be/eBriL3CDNeo" TargetMode="External" /><Relationship Id="rId14" Type="http://schemas.openxmlformats.org/officeDocument/2006/relationships/hyperlink" Target="https://doi.org/10.31235/osf.io/p8bx6_v1" TargetMode="External" /><Relationship Id="rId15" Type="http://schemas.openxmlformats.org/officeDocument/2006/relationships/hyperlink" Target="https://doi.org/10.1101/gr.1239303" TargetMode="External" /><Relationship Id="rId16" Type="http://schemas.openxmlformats.org/officeDocument/2006/relationships/hyperlink" Target="https://doi.org/10.1145/320473.320476" TargetMode="External" /><Relationship Id="rId17" Type="http://schemas.openxmlformats.org/officeDocument/2006/relationships/hyperlink" Target="https://dev.to/tidelift/the-open-source-maintainer-community-is-getting-grayer-1gc2" TargetMode="External" /><Relationship Id="rId18" Type="http://schemas.openxmlformats.org/officeDocument/2006/relationships/hyperlink" Target="https://github.com/riscv/riscv-isa-manual" TargetMode="External" /><Relationship Id="rId19" Type="http://schemas.openxmlformats.org/officeDocument/2006/relationships/hyperlink" Target="https://doi.org/10.1145/2656877.2656887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Source as Institutional Infrastructure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Lessons from the UC OSPO Network</a:t>
            </a:r>
            <a:br/>
            <a:br/>
            <a:r>
              <a:rPr/>
              <a:t>Tim Dennis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invisible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data workflows run on open source:</a:t>
            </a:r>
          </a:p>
          <a:p>
            <a:pPr lvl="0"/>
            <a:r>
              <a:rPr/>
              <a:t>Data collection, cleaning, analysis, visualization</a:t>
            </a:r>
          </a:p>
          <a:p>
            <a:pPr lvl="0"/>
            <a:r>
              <a:rPr/>
              <a:t>Reproducibility tooling: containers, workflows, version control</a:t>
            </a:r>
          </a:p>
          <a:p>
            <a:pPr lvl="0"/>
            <a:r>
              <a:rPr/>
              <a:t>Repositories and scholarly infrastructure</a:t>
            </a:r>
          </a:p>
          <a:p>
            <a:pPr lvl="0" indent="0" marL="0">
              <a:buNone/>
            </a:pPr>
            <a:r>
              <a:rPr b="1"/>
              <a:t>92%</a:t>
            </a:r>
            <a:r>
              <a:rPr/>
              <a:t> of researchers use software; </a:t>
            </a:r>
            <a:r>
              <a:rPr b="1"/>
              <a:t>69%</a:t>
            </a:r>
            <a:r>
              <a:rPr/>
              <a:t> say their research would not be practical without it.</a:t>
            </a:r>
          </a:p>
          <a:p>
            <a:pPr lvl="0" indent="0" marL="0">
              <a:buNone/>
            </a:pPr>
            <a:r>
              <a:rPr/>
              <a:t>The people keeping it running are increasingly called </a:t>
            </a:r>
            <a:r>
              <a:rPr b="1"/>
              <a:t>Research Software Engineers (RSEs)</a:t>
            </a:r>
            <a:r>
              <a:rPr/>
              <a:t>, a growing professional community with no standard institutional home.</a:t>
            </a:r>
          </a:p>
          <a:p>
            <a:pPr lvl="0" indent="0" marL="0">
              <a:buNone/>
            </a:pPr>
            <a:r>
              <a:rPr/>
              <a:t>If every organization had to replace open source with proprietary equivalents, the cost would exceed </a:t>
            </a:r>
            <a:r>
              <a:rPr b="1"/>
              <a:t>$8.8 trillion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Hettrick et al. (SSI, 2014/2022) · Hoffmann, Nagle &amp; Zhou (2024) doi:10.2139/ssrn.4693148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Jupyter</a:t>
            </a:r>
          </a:p>
          <a:p>
            <a:pPr lvl="0" indent="0" marL="0">
              <a:buNone/>
            </a:pPr>
            <a:r>
              <a:rPr/>
              <a:t>Python</a:t>
            </a:r>
          </a:p>
          <a:p>
            <a:pPr lvl="0" indent="0" marL="0">
              <a:buNone/>
            </a:pPr>
            <a:r>
              <a:rPr/>
              <a:t>R</a:t>
            </a:r>
          </a:p>
          <a:p>
            <a:pPr lvl="0" indent="0" marL="0">
              <a:buNone/>
            </a:pPr>
            <a:r>
              <a:rPr/>
              <a:t>Git</a:t>
            </a:r>
          </a:p>
          <a:p>
            <a:pPr lvl="0" indent="0" marL="0">
              <a:buNone/>
            </a:pPr>
            <a:r>
              <a:rPr/>
              <a:t>Spark</a:t>
            </a:r>
          </a:p>
          <a:p>
            <a:pPr lvl="0" indent="0" marL="0">
              <a:buNone/>
            </a:pPr>
            <a:r>
              <a:rPr/>
              <a:t>Pandas</a:t>
            </a:r>
          </a:p>
          <a:p>
            <a:pPr lvl="0" indent="0" marL="0">
              <a:buNone/>
            </a:pPr>
            <a:r>
              <a:rPr/>
              <a:t>NumPy</a:t>
            </a:r>
          </a:p>
          <a:p>
            <a:pPr lvl="0" indent="0" marL="0">
              <a:buNone/>
            </a:pPr>
            <a:r>
              <a:rPr/>
              <a:t>Docker</a:t>
            </a:r>
          </a:p>
          <a:p>
            <a:pPr lvl="0" indent="0" marL="0">
              <a:buNone/>
            </a:pPr>
            <a:r>
              <a:rPr/>
              <a:t>Ray</a:t>
            </a:r>
          </a:p>
          <a:p>
            <a:pPr lvl="0" indent="0" marL="0">
              <a:buNone/>
            </a:pPr>
            <a:r>
              <a:rPr/>
              <a:t>ggplot2</a:t>
            </a:r>
          </a:p>
          <a:p>
            <a:pPr lvl="0" indent="0" marL="0">
              <a:buNone/>
            </a:pPr>
            <a:r>
              <a:rPr/>
              <a:t>dplyr</a:t>
            </a:r>
          </a:p>
          <a:p>
            <a:pPr lvl="0" indent="0" marL="0">
              <a:buNone/>
            </a:pPr>
            <a:r>
              <a:rPr/>
              <a:t>Snakemake</a:t>
            </a:r>
          </a:p>
          <a:p>
            <a:pPr lvl="0" indent="0" marL="0">
              <a:buNone/>
            </a:pPr>
            <a:r>
              <a:rPr/>
              <a:t>Nextflow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UC research-to-infrastructure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professionals built open data infrastructure: FAIR, DMPs, curation, provenance.</a:t>
            </a:r>
          </a:p>
          <a:p>
            <a:pPr lvl="0" indent="0" marL="0">
              <a:buNone/>
            </a:pPr>
            <a:r>
              <a:rPr b="1"/>
              <a:t>FAIR4RS</a:t>
            </a:r>
            <a:r>
              <a:rPr/>
              <a:t> is the same inflection point for software — and UC has been showing the way for 50 years.</a:t>
            </a:r>
          </a:p>
          <a:p>
            <a:pPr lvl="0" indent="0" marL="0">
              <a:buNone/>
            </a:pPr>
            <a:r>
              <a:rPr/>
              <a:t>BSD Unix · Ceph · Apache Spark · Jupyter · RISC-V · Ray</a:t>
            </a:r>
          </a:p>
          <a:p>
            <a:pPr lvl="0" indent="0" marL="0">
              <a:buNone/>
            </a:pPr>
            <a:r>
              <a:rPr/>
              <a:t>The pipeline from university research to global infrastructure is not rare or accidental.</a:t>
            </a:r>
          </a:p>
          <a:p>
            <a:pPr lvl="0" indent="0" marL="0">
              <a:buNone/>
            </a:pPr>
            <a:r>
              <a:rPr/>
              <a:t>Barker et al. (2022) doi:10.1038/s41597-022-01710-x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UC Berkeley</a:t>
            </a:r>
          </a:p>
          <a:p>
            <a:pPr lvl="0" indent="0" marL="0">
              <a:buNone/>
            </a:pPr>
            <a:r>
              <a:rPr/>
              <a:t>Jupyter</a:t>
            </a:r>
          </a:p>
          <a:p>
            <a:pPr lvl="0" indent="0" marL="0">
              <a:buNone/>
            </a:pPr>
            <a:r>
              <a:rPr/>
              <a:t>Apache Spark</a:t>
            </a:r>
          </a:p>
          <a:p>
            <a:pPr lvl="0" indent="0" marL="0">
              <a:buNone/>
            </a:pPr>
            <a:r>
              <a:rPr/>
              <a:t>RISC-V</a:t>
            </a:r>
          </a:p>
          <a:p>
            <a:pPr lvl="0" indent="0" marL="0">
              <a:buNone/>
            </a:pPr>
            <a:r>
              <a:rPr/>
              <a:t>Ray</a:t>
            </a:r>
          </a:p>
          <a:p>
            <a:pPr lvl="0" indent="0" marL="0">
              <a:buNone/>
            </a:pPr>
            <a:r>
              <a:rPr/>
              <a:t>BSD Unix</a:t>
            </a:r>
          </a:p>
          <a:p>
            <a:pPr lvl="0" indent="0" marL="0">
              <a:buNone/>
            </a:pPr>
            <a:r>
              <a:rPr/>
              <a:t>UC Santa Cruz</a:t>
            </a:r>
          </a:p>
          <a:p>
            <a:pPr lvl="0" indent="0" marL="0">
              <a:buNone/>
            </a:pPr>
            <a:r>
              <a:rPr/>
              <a:t>Ceph</a:t>
            </a:r>
          </a:p>
          <a:p>
            <a:pPr lvl="0" indent="0" marL="0">
              <a:buNone/>
            </a:pPr>
            <a:r>
              <a:rPr/>
              <a:t>UCSC Genome Browser</a:t>
            </a:r>
          </a:p>
          <a:p>
            <a:pPr lvl="0" indent="0" marL="0">
              <a:buNone/>
            </a:pPr>
            <a:r>
              <a:rPr/>
              <a:t>UC San Diego</a:t>
            </a:r>
          </a:p>
          <a:p>
            <a:pPr lvl="0" indent="0" marL="0">
              <a:buNone/>
            </a:pPr>
            <a:r>
              <a:rPr/>
              <a:t>Cytoscape EEGLAB</a:t>
            </a:r>
          </a:p>
          <a:p>
            <a:pPr lvl="0" indent="0" marL="0">
              <a:buNone/>
            </a:pPr>
            <a:r>
              <a:rPr/>
              <a:t>UCSD Pascal</a:t>
            </a:r>
          </a:p>
          <a:p>
            <a:pPr lvl="0" indent="0" marL="0">
              <a:buNone/>
            </a:pPr>
            <a:r>
              <a:rPr/>
              <a:t>UCLA</a:t>
            </a:r>
          </a:p>
          <a:p>
            <a:pPr lvl="0" indent="0" marL="0">
              <a:buNone/>
            </a:pPr>
            <a:r>
              <a:rPr/>
              <a:t>Processing</a:t>
            </a:r>
          </a:p>
          <a:p>
            <a:pPr lvl="0" indent="0" marL="0">
              <a:buNone/>
            </a:pPr>
            <a:r>
              <a:rPr/>
              <a:t>Named Data Networking</a:t>
            </a:r>
          </a:p>
          <a:p>
            <a:pPr lvl="0" indent="0" marL="0">
              <a:buNone/>
            </a:pPr>
            <a:r>
              <a:rPr/>
              <a:t>tz database</a:t>
            </a:r>
          </a:p>
          <a:p>
            <a:pPr lvl="0" indent="0" marL="0">
              <a:buNone/>
            </a:pPr>
            <a:r>
              <a:rPr/>
              <a:t>UC San Francisco</a:t>
            </a:r>
          </a:p>
          <a:p>
            <a:pPr lvl="0" indent="0" marL="0">
              <a:buNone/>
            </a:pPr>
            <a:r>
              <a:rPr/>
              <a:t>ChimeraX</a:t>
            </a:r>
          </a:p>
          <a:p>
            <a:pPr lvl="0" indent="0" marL="0">
              <a:buNone/>
            </a:pPr>
            <a:r>
              <a:rPr/>
              <a:t>OpenMM</a:t>
            </a:r>
          </a:p>
          <a:p>
            <a:pPr lvl="0" indent="0" marL="0">
              <a:buNone/>
            </a:pPr>
            <a:r>
              <a:rPr/>
              <a:t>UC Davis</a:t>
            </a:r>
          </a:p>
          <a:p>
            <a:pPr lvl="0" indent="0" marL="0">
              <a:buNone/>
            </a:pPr>
            <a:r>
              <a:rPr/>
              <a:t>sourmash</a:t>
            </a:r>
          </a:p>
          <a:p>
            <a:pPr lvl="0" indent="0" marL="0">
              <a:buNone/>
            </a:pPr>
            <a:r>
              <a:rPr/>
              <a:t>ERPLAB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academic OSPO?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</a:t>
            </a:r>
            <a:r>
              <a:rPr b="1"/>
              <a:t>Open Source Program Office</a:t>
            </a:r>
            <a:r>
              <a:rPr/>
              <a:t> supports, governs, and promotes open source within an institution.</a:t>
            </a:r>
          </a:p>
          <a:p>
            <a:pPr lvl="0"/>
            <a:r>
              <a:rPr/>
              <a:t>Originated in industry: ~77% of large tech companies have one</a:t>
            </a:r>
          </a:p>
          <a:p>
            <a:pPr lvl="0"/>
            <a:r>
              <a:rPr/>
              <a:t>First academic OSPO: Johns Hopkins, 2019</a:t>
            </a:r>
          </a:p>
          <a:p>
            <a:pPr lvl="0"/>
            <a:r>
              <a:rPr b="1"/>
              <a:t>34 academic OSPOs</a:t>
            </a:r>
            <a:r>
              <a:rPr/>
              <a:t> in CURIOSS worldwide and growing</a:t>
            </a:r>
          </a:p>
          <a:p>
            <a:pPr lvl="0"/>
            <a:r>
              <a:rPr/>
              <a:t>Core functions: policy, licensing guidance, best practices, education, community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//| echo: false
//| output: false
world_topo = fetch("https://cdn.jsdelivr.net/npm/world-atlas@2/countries-110m.json").then(r =&gt; r.json())
members = FileAttachment("curioss-members.csv").csv({typed: true})</a:t>
            </a:r>
          </a:p>
          <a:p>
            <a:pPr lvl="0" indent="0">
              <a:buNone/>
            </a:pPr>
            <a:r>
              <a:rPr>
                <a:latin typeface="Courier"/>
              </a:rPr>
              <a:t>//| echo: false
Plot.plot({
  projection: {
    type: "equal-earth",
    domain: {
      type: "MultiPoint",
      coordinates: members.map(d =&gt; [+d.lon, +d.lat])
    },
    inset: 40
  },
  width: 660,
  height: 340,
  style: {background: "transparent"},
  marks: [
    Plot.graticule({stroke: "#e8eef8", strokeWidth: 0.5}),
    Plot.geo(topojson.feature(world_topo, world_topo.objects.land), {
      fill: "#e8eef8", stroke: "#ccc", strokeWidth: 0.5
    }),
    Plot.dot(members, {
      x: d =&gt; +d.lon,
      y: d =&gt; +d.lat,
      r: 7,
      fill: d =&gt; d.uc_network === "yes" ? "#ff9100" : "#003cb3",
      stroke: "white",
      strokeWidth: 1.2,
      tip: true,
      title: d =&gt; d.name
    })
  ]
})</a:t>
            </a:r>
          </a:p>
          <a:p>
            <a:pPr lvl="0" indent="0" marL="0">
              <a:buNone/>
            </a:pPr>
            <a:r>
              <a:rPr/>
              <a:t>🟠 UC OSPO Network  ·  🔵 CURIOSS member</a:t>
            </a:r>
          </a:p>
          <a:p>
            <a:pPr lvl="0" indent="0" marL="0">
              <a:buNone/>
            </a:pPr>
            <a:r>
              <a:rPr/>
              <a:t>World map showing 34 CURIOSS member institutions. Six UC campuses (orange) in California: Santa Cruz, Berkeley, Davis, Los Angeles, Santa Barbara, and San Diego. Twenty-eight additional institutions (blue) across the US, UK, Switzerland, Spain, Ireland, Luxembourg, and France.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UC OSPO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multi-campus collaboration</a:t>
            </a:r>
            <a:r>
              <a:rPr/>
              <a:t> treating open source as shared infrastructure.</a:t>
            </a:r>
          </a:p>
          <a:p>
            <a:pPr lvl="0"/>
            <a:r>
              <a:rPr/>
              <a:t>6 campuses: Santa Cruz, Berkeley, Davis, Los Angeles, Santa Barbara, San Diego</a:t>
            </a:r>
          </a:p>
          <a:p>
            <a:pPr lvl="0"/>
            <a:r>
              <a:rPr/>
              <a:t>Launched April 2024, funded by the Alfred P. Sloan Foundation</a:t>
            </a:r>
          </a:p>
          <a:p>
            <a:pPr lvl="0"/>
            <a:r>
              <a:rPr b="1"/>
              <a:t>$1.85M</a:t>
            </a:r>
            <a:r>
              <a:rPr/>
              <a:t> in external funding to date</a:t>
            </a:r>
          </a:p>
          <a:p>
            <a:pPr lvl="0"/>
            <a:r>
              <a:rPr/>
              <a:t>Lead: UC Santa Cruz, the first OSPO in a large state university system</a:t>
            </a:r>
          </a:p>
          <a:p>
            <a:pPr lvl="0"/>
            <a:r>
              <a:rPr/>
              <a:t>Serves 280,000+ students and 25,000+ faculty</a:t>
            </a:r>
          </a:p>
          <a:p>
            <a:pPr lvl="0" indent="0" marL="0">
              <a:buNone/>
            </a:pPr>
            <a:r>
              <a:rPr/>
              <a:t>Acts as a </a:t>
            </a:r>
            <a:r>
              <a:rPr b="1"/>
              <a:t>neutral convener</a:t>
            </a:r>
            <a:r>
              <a:rPr/>
              <a:t>: no single campus, company, or grant cycle can pull the work away.</a:t>
            </a:r>
          </a:p>
          <a:p>
            <a:pPr lvl="0" indent="0" marL="0">
              <a:buNone/>
            </a:pPr>
            <a:r>
              <a:rPr/>
              <a:t>Ruff (2026) UC Open Summit · youtu.be/eBriL3CDNeo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//| echo: false
//| output: false
ca_states = fetch("https://cdn.jsdelivr.net/npm/us-atlas@3/states-10m.json").then(r =&gt; r.json())
uc_network_campuses = [
  {name: "UC Santa Cruz", short: "UCSC", lon: -122.0583, lat: 36.9741},
  {name: "UC Berkeley", short: "UCB", lon: -122.2595, lat: 37.8724},
  {name: "UC Davis", short: "UCD", lon: -121.7619, lat: 38.5382},
  {name: "UC Los Angeles", short: "UCLA", lon: -118.4452, lat: 34.0689},
  {name: "UC Santa Barbara", short: "UCSB", lon: -119.8489, lat: 34.4140},
  {name: "UC San Diego", short: "UCSD", lon: -117.2340, lat: 32.8801}
]</a:t>
            </a:r>
          </a:p>
          <a:p>
            <a:pPr lvl="0" indent="0">
              <a:buNone/>
            </a:pPr>
            <a:r>
              <a:rPr>
                <a:latin typeface="Courier"/>
              </a:rPr>
              <a:t>//| echo: false
Plot.plot({
  projection: {
    type: "mercator",
    domain: {type: "MultiPoint", coordinates: [[-124.5, 32.4], [-114, 42.1]]}
  },
  width: 500,
  height: 420,
  style: {background: "transparent"},
  marks: [
    Plot.geo(
      topojson.feature(ca_states, ca_states.objects.states).features.find(d =&gt; +d.id === 6),
      {fill: "#e8eef8", stroke: "#b0bbcc", strokeWidth: 0.8}
    ),
    Plot.dot(uc_network_campuses, {
      x: d =&gt; d.lon,
      y: d =&gt; d.lat,
      r: 10,
      fill: "#ff9100",
      stroke: "white",
      strokeWidth: 1.8,
      tip: true,
      title: d =&gt; d.name
    }),
    Plot.text(uc_network_campuses, {
      x: d =&gt; d.lon,
      y: d =&gt; d.lat,
      text: d =&gt; d.short,
      dy: -18,
      fontSize: 13,
      fontWeight: "bold",
      fill: "#1f335e",
      stroke: "white",
      strokeWidth: 3
    })
  ]
})</a:t>
            </a:r>
          </a:p>
          <a:p>
            <a:pPr lvl="0" indent="0" marL="0">
              <a:buNone/>
            </a:pPr>
            <a:r>
              <a:rPr/>
              <a:t>Map of California showing six UC OSPO Network campuses: Santa Cruz, Berkeley, Davis, Los Angeles, Santa Barbara, and San Diego.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Discovery · Sustainability ·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🔭</a:t>
            </a:r>
          </a:p>
          <a:p>
            <a:pPr lvl="0" indent="0" marL="0">
              <a:buNone/>
            </a:pPr>
            <a:r>
              <a:rPr b="1"/>
              <a:t>Discovery</a:t>
            </a:r>
          </a:p>
          <a:p>
            <a:pPr lvl="0" indent="0" marL="0">
              <a:buNone/>
            </a:pPr>
            <a:r>
              <a:rPr/>
              <a:t>Mapping who does what across the UC system</a:t>
            </a:r>
          </a:p>
          <a:p>
            <a:pPr lvl="0"/>
            <a:r>
              <a:rPr/>
              <a:t>236,000+ repos scanned; ~82,000 institutionally affiliated</a:t>
            </a:r>
          </a:p>
          <a:p>
            <a:pPr lvl="0"/>
            <a:r>
              <a:rPr/>
              <a:t>294-respondent system-wide survey</a:t>
            </a:r>
          </a:p>
          <a:p>
            <a:pPr lvl="0"/>
            <a:r>
              <a:rPr/>
              <a:t>UC Open Repository Browser (UC ORB)</a:t>
            </a:r>
          </a:p>
          <a:p>
            <a:pPr lvl="0" indent="0" marL="0">
              <a:buNone/>
            </a:pPr>
            <a:r>
              <a:rPr/>
              <a:t>🌱</a:t>
            </a:r>
          </a:p>
          <a:p>
            <a:pPr lvl="0" indent="0" marL="0">
              <a:buNone/>
            </a:pPr>
            <a:r>
              <a:rPr b="1"/>
              <a:t>Sustainability</a:t>
            </a:r>
          </a:p>
          <a:p>
            <a:pPr lvl="0" indent="0" marL="0">
              <a:buNone/>
            </a:pPr>
            <a:r>
              <a:rPr/>
              <a:t>Keeping projects and communities healthy</a:t>
            </a:r>
          </a:p>
          <a:p>
            <a:pPr lvl="0"/>
            <a:r>
              <a:rPr b="1"/>
              <a:t>58%</a:t>
            </a:r>
            <a:r>
              <a:rPr/>
              <a:t> of UC contributors are also maintainers</a:t>
            </a:r>
          </a:p>
          <a:p>
            <a:pPr lvl="0"/>
            <a:r>
              <a:rPr/>
              <a:t>Cross-campus licensing working group (UCOP + tech transfer)</a:t>
            </a:r>
          </a:p>
          <a:p>
            <a:pPr lvl="0"/>
            <a:r>
              <a:rPr/>
              <a:t>Project health assessment (OSSPREY)</a:t>
            </a:r>
          </a:p>
          <a:p>
            <a:pPr lvl="0" indent="0" marL="0">
              <a:buNone/>
            </a:pPr>
            <a:r>
              <a:rPr/>
              <a:t>📖</a:t>
            </a:r>
          </a:p>
          <a:p>
            <a:pPr lvl="0" indent="0" marL="0">
              <a:buNone/>
            </a:pPr>
            <a:r>
              <a:rPr b="1"/>
              <a:t>Education</a:t>
            </a:r>
          </a:p>
          <a:p>
            <a:pPr lvl="0" indent="0" marL="0">
              <a:buNone/>
            </a:pPr>
            <a:r>
              <a:rPr/>
              <a:t>Coordinated training across campuses</a:t>
            </a:r>
          </a:p>
          <a:p>
            <a:pPr lvl="0"/>
            <a:r>
              <a:rPr/>
              <a:t>Gap analysis → curriculum inventory → learning pathways</a:t>
            </a:r>
          </a:p>
          <a:p>
            <a:pPr lvl="0"/>
            <a:r>
              <a:rPr/>
              <a:t>Published at </a:t>
            </a:r>
            <a:r>
              <a:rPr>
                <a:hlinkClick r:id="rId3"/>
              </a:rPr>
              <a:t>ucospo.net/education</a:t>
            </a:r>
          </a:p>
          <a:p>
            <a:pPr lvl="0"/>
            <a:r>
              <a:rPr/>
              <a:t>Coordinated with Carpentries infrastructure</a:t>
            </a:r>
          </a:p>
          <a:p>
            <a:pPr lvl="0" indent="0" marL="0">
              <a:buNone/>
            </a:pPr>
            <a:r>
              <a:rPr/>
              <a:t>Gomez et al. (2025) arxiv:2506.18359 · Scarlett et al. (2025) doi:10.31235/osf.io/p8bx6_v1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Lessons from two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network model enables that single campuses cannot:</a:t>
            </a:r>
          </a:p>
          <a:p>
            <a:pPr lvl="0" indent="-342900" marL="342900">
              <a:buAutoNum type="arabicPeriod"/>
            </a:pPr>
            <a:r>
              <a:rPr b="1"/>
              <a:t>Shared staffing</a:t>
            </a:r>
            <a:r>
              <a:rPr/>
              <a:t>: community manager, licensing specialist, technical roles</a:t>
            </a:r>
          </a:p>
          <a:p>
            <a:pPr lvl="0" indent="-342900" marL="342900">
              <a:buAutoNum type="arabicPeriod"/>
            </a:pPr>
            <a:r>
              <a:rPr b="1"/>
              <a:t>Policy leverage</a:t>
            </a:r>
            <a:r>
              <a:rPr/>
              <a:t>: the network has standing with UCOP; individual campuses do not</a:t>
            </a:r>
          </a:p>
          <a:p>
            <a:pPr lvl="0" indent="-342900" marL="342900">
              <a:buAutoNum type="arabicPeriod"/>
            </a:pPr>
            <a:r>
              <a:rPr b="1"/>
              <a:t>Data at scale</a:t>
            </a:r>
            <a:r>
              <a:rPr/>
              <a:t>: the GitHub and survey analyses require system-wide scope to mean anything</a:t>
            </a:r>
          </a:p>
          <a:p>
            <a:pPr lvl="0" indent="-342900" marL="342900">
              <a:buAutoNum type="arabicPeriod"/>
            </a:pPr>
            <a:r>
              <a:rPr b="1"/>
              <a:t>Equity</a:t>
            </a:r>
            <a:r>
              <a:rPr/>
              <a:t>: smaller campuses get services they could not build alone</a:t>
            </a:r>
          </a:p>
          <a:p>
            <a:pPr lvl="0" indent="-342900" marL="342900">
              <a:buAutoNum type="arabicPeriod"/>
            </a:pPr>
            <a:r>
              <a:rPr b="1"/>
              <a:t>A replicable model</a:t>
            </a:r>
            <a:r>
              <a:rPr/>
              <a:t>: $1.85M produced something other state systems can follow</a:t>
            </a:r>
          </a:p>
          <a:p>
            <a:pPr lvl="0" indent="0" marL="0">
              <a:buNone/>
            </a:pPr>
            <a:r>
              <a:rPr/>
              <a:t>Each campus contributes unique expertise; the network routes it to where it’s needed.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this meets your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data professionals, the OSPO sits at the intersection of:</a:t>
            </a:r>
          </a:p>
          <a:p>
            <a:pPr lvl="0"/>
            <a:r>
              <a:rPr/>
              <a:t>Research software engineering ↔ data management</a:t>
            </a:r>
          </a:p>
          <a:p>
            <a:pPr lvl="0"/>
            <a:r>
              <a:rPr/>
              <a:t>Licensing compliance ↔ open data policy</a:t>
            </a:r>
          </a:p>
          <a:p>
            <a:pPr lvl="0"/>
            <a:r>
              <a:rPr/>
              <a:t>Reproducibility tooling ↔ FAIR / FAIR4RS</a:t>
            </a:r>
          </a:p>
          <a:p>
            <a:pPr lvl="0"/>
            <a:r>
              <a:rPr/>
              <a:t>Training infrastructure ↔ data literacy programs</a:t>
            </a:r>
          </a:p>
          <a:p>
            <a:pPr lvl="0"/>
            <a:r>
              <a:rPr/>
              <a:t>RSE community ↔ library research support</a:t>
            </a:r>
          </a:p>
          <a:p>
            <a:pPr lvl="0" indent="0" marL="0">
              <a:buNone/>
            </a:pPr>
            <a:r>
              <a:rPr b="1"/>
              <a:t>For your institution:</a:t>
            </a:r>
          </a:p>
          <a:p>
            <a:pPr lvl="0"/>
            <a:r>
              <a:rPr/>
              <a:t>Where does open source software governance currently live?</a:t>
            </a:r>
          </a:p>
          <a:p>
            <a:pPr lvl="0"/>
            <a:r>
              <a:rPr/>
              <a:t>What would it take to treat it as infrastructure rather than a side project?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You’re already doing this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 do technical data services, researchers are already bringing you these questions:</a:t>
            </a:r>
          </a:p>
          <a:p>
            <a:pPr lvl="0"/>
            <a:r>
              <a:rPr/>
              <a:t>“What license should I use for this code?”</a:t>
            </a:r>
          </a:p>
          <a:p>
            <a:pPr lvl="0"/>
            <a:r>
              <a:rPr/>
              <a:t>“Is this library still maintained? Should I depend on it?”</a:t>
            </a:r>
          </a:p>
          <a:p>
            <a:pPr lvl="0"/>
            <a:r>
              <a:rPr/>
              <a:t>“How do I make this reproducible and citable?”</a:t>
            </a:r>
          </a:p>
          <a:p>
            <a:pPr lvl="0"/>
            <a:r>
              <a:rPr/>
              <a:t>“My funder wants a software management plan.”</a:t>
            </a:r>
          </a:p>
          <a:p>
            <a:pPr lvl="0"/>
            <a:r>
              <a:rPr/>
              <a:t>“How do I accept contributions from collaborators?”</a:t>
            </a:r>
          </a:p>
          <a:p>
            <a:pPr lvl="0" indent="0" marL="0">
              <a:buNone/>
            </a:pPr>
            <a:r>
              <a:rPr b="1"/>
              <a:t>That is OSPO work.</a:t>
            </a:r>
            <a:r>
              <a:rPr/>
              <a:t> The frame makes it legible to your institution.</a:t>
            </a:r>
          </a:p>
          <a:p>
            <a:pPr lvl="0" indent="0" marL="0">
              <a:buNone/>
            </a:pPr>
            <a:r>
              <a:rPr b="1"/>
              <a:t>The network has already built the resources</a:t>
            </a:r>
            <a:r>
              <a:rPr/>
              <a:t> (Laura Langdon, UC OSPO):</a:t>
            </a:r>
          </a:p>
          <a:p>
            <a:pPr lvl="0" indent="0" marL="0">
              <a:buNone/>
            </a:pPr>
            <a:r>
              <a:rPr>
                <a:hlinkClick r:id="rId3"/>
                <a:latin typeface="Courier"/>
              </a:rPr>
              <a:t>README</a:t>
            </a:r>
            <a:r>
              <a:rPr/>
              <a:t> · </a:t>
            </a:r>
            <a:r>
              <a:rPr>
                <a:hlinkClick r:id="rId4"/>
                <a:latin typeface="Courier"/>
              </a:rPr>
              <a:t>LICENSE</a:t>
            </a:r>
            <a:r>
              <a:rPr/>
              <a:t> · </a:t>
            </a:r>
            <a:r>
              <a:rPr>
                <a:hlinkClick r:id="rId5"/>
                <a:latin typeface="Courier"/>
              </a:rPr>
              <a:t>CONTRIBUTING</a:t>
            </a:r>
            <a:r>
              <a:rPr/>
              <a:t> · </a:t>
            </a:r>
            <a:r>
              <a:rPr>
                <a:hlinkClick r:id="rId6"/>
                <a:latin typeface="Courier"/>
              </a:rPr>
              <a:t>CODE_OF_CONDUCT</a:t>
            </a:r>
            <a:r>
              <a:rPr/>
              <a:t> · </a:t>
            </a:r>
            <a:r>
              <a:rPr>
                <a:latin typeface="Courier"/>
              </a:rPr>
              <a:t>CITATION.cff</a:t>
            </a:r>
            <a:r>
              <a:rPr/>
              <a:t> + Zenodo DOI · </a:t>
            </a:r>
            <a:r>
              <a:rPr>
                <a:hlinkClick r:id="rId7"/>
              </a:rPr>
              <a:t>Growing a Community</a:t>
            </a:r>
            <a:r>
              <a:rPr/>
              <a:t> · </a:t>
            </a:r>
            <a:r>
              <a:rPr>
                <a:hlinkClick r:id="rId8"/>
              </a:rPr>
              <a:t>Carpentries Incubator lesson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Raise the floor, not just solve the ticket</a:t>
            </a:r>
          </a:p>
          <a:p>
            <a:pPr lvl="0" indent="0" marL="0">
              <a:buNone/>
            </a:pPr>
            <a:r>
              <a:rPr/>
              <a:t>Fixing their immediate problem gets them through the week.</a:t>
            </a:r>
          </a:p>
          <a:p>
            <a:pPr lvl="0" indent="0" marL="0">
              <a:buNone/>
            </a:pPr>
            <a:r>
              <a:rPr/>
              <a:t>Moving them from “it runs on my machine” to maintainable, licensed, citable software gets their whole lab there, and their students after them.</a:t>
            </a:r>
          </a:p>
          <a:p>
            <a:pPr lvl="0" indent="0" marL="0">
              <a:buNone/>
            </a:pPr>
            <a:r>
              <a:rPr/>
              <a:t>You don’t need a formal OSPO to do this. You need the frame.</a:t>
            </a:r>
          </a:p>
          <a:p>
            <a:pPr lvl="0" indent="0" marL="0">
              <a:buNone/>
            </a:pPr>
            <a:r>
              <a:rPr b="1"/>
              <a:t>OSPO heuristics already in your toolkit:</a:t>
            </a:r>
            <a:r>
              <a:rPr/>
              <a:t> health signals · bus factor · governance files · FAIR4RS · software DMPs · contributor conventions · community governance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 more /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UC OSPO Network:</a:t>
            </a:r>
            <a:r>
              <a:rPr/>
              <a:t> </a:t>
            </a:r>
            <a:r>
              <a:rPr>
                <a:hlinkClick r:id="rId3"/>
              </a:rPr>
              <a:t>ucospo.net</a:t>
            </a:r>
          </a:p>
          <a:p>
            <a:pPr lvl="0"/>
            <a:r>
              <a:rPr/>
              <a:t>Education site: </a:t>
            </a:r>
            <a:r>
              <a:rPr>
                <a:hlinkClick r:id="rId4"/>
              </a:rPr>
              <a:t>ucospo.net/education</a:t>
            </a:r>
          </a:p>
          <a:p>
            <a:pPr lvl="0"/>
            <a:r>
              <a:rPr/>
              <a:t>Mailing list, Slack, events calendar</a:t>
            </a:r>
          </a:p>
          <a:p>
            <a:pPr lvl="0" indent="0" marL="0">
              <a:buNone/>
            </a:pPr>
            <a:r>
              <a:rPr b="1"/>
              <a:t>Global network:</a:t>
            </a:r>
            <a:r>
              <a:rPr/>
              <a:t> </a:t>
            </a:r>
            <a:r>
              <a:rPr>
                <a:hlinkClick r:id="rId5"/>
              </a:rPr>
              <a:t>curioss.org</a:t>
            </a:r>
            <a:r>
              <a:rPr/>
              <a:t>, 34 academic OSPOs worldwide and growing</a:t>
            </a:r>
          </a:p>
          <a:p>
            <a:pPr lvl="0" indent="0" marL="0">
              <a:buNone/>
            </a:pPr>
            <a:r>
              <a:rPr b="1"/>
              <a:t>Tim Dennis</a:t>
            </a:r>
            <a:r>
              <a:rPr/>
              <a:t> Data Science Center, UCLA Library </a:t>
            </a:r>
            <a:r>
              <a:rPr>
                <a:hlinkClick r:id="rId6"/>
              </a:rPr>
              <a:t>ORCIDorcid.org/0000-0001-6632-3812</a:t>
            </a:r>
            <a:r>
              <a:rPr/>
              <a:t> tdennis@library.ucla.edu</a:t>
            </a:r>
          </a:p>
          <a:p>
            <a:pPr lvl="0" indent="0" marL="0">
              <a:buNone/>
            </a:pPr>
            <a:r>
              <a:rPr/>
              <a:t>🖥 Slides: </a:t>
            </a:r>
            <a:r>
              <a:rPr b="1"/>
              <a:t>tinyurl.com/iassist2026</a:t>
            </a:r>
          </a:p>
          <a:p>
            <a:pPr lvl="0" indent="0" marL="0">
              <a:buNone/>
            </a:pPr>
            <a:r>
              <a:rPr/>
              <a:t>📄 Handout: </a:t>
            </a:r>
            <a:r>
              <a:rPr b="1"/>
              <a:t>tinyurl.com/iassist2026-handout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QR code linking to tinyurl.com/iassist2026 — slides for this presentation</a:t>
            </a:r>
          </a:p>
          <a:p>
            <a:pPr lvl="0" indent="0" marL="0">
              <a:buNone/>
            </a:pPr>
            <a:r>
              <a:rPr/>
              <a:t>QR code linking to tinyurl.com/iassist2026 — slides for this presentation</a:t>
            </a:r>
          </a:p>
          <a:p>
            <a:pPr lvl="0" indent="0" marL="0">
              <a:buNone/>
            </a:pPr>
            <a:r>
              <a:rPr/>
              <a:t>tinyurl.com/iassist2026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Barker, M., Chue Hong, N. P., Katz, D. S., Lamprecht, A.-L., Martinez-Ortiz, C., Psomopoulos, F., Harrow, J., Castro, L. J., Gruenpeter, M., Martinez, P. A., &amp; Honeyman, T. (2022). Introducing the FAIR principles for research software. </a:t>
            </a:r>
            <a:r>
              <a:rPr i="1"/>
              <a:t>Scientific Data</a:t>
            </a:r>
            <a:r>
              <a:rPr/>
              <a:t>, </a:t>
            </a:r>
            <a:r>
              <a:rPr i="1"/>
              <a:t>9</a:t>
            </a:r>
            <a:r>
              <a:rPr/>
              <a:t>, 622. </a:t>
            </a:r>
            <a:r>
              <a:rPr>
                <a:hlinkClick r:id="rId2"/>
              </a:rPr>
              <a:t>https://doi.org/10.1038/s41597-022-01710-x</a:t>
            </a:r>
          </a:p>
          <a:p>
            <a:pPr lvl="0" indent="0" marL="0">
              <a:buNone/>
            </a:pPr>
            <a:r>
              <a:rPr/>
              <a:t>Brown, C. T., &amp; Irber, L. (2016). Sourmash: A library for MinHash sketching of DNA. </a:t>
            </a:r>
            <a:r>
              <a:rPr i="1"/>
              <a:t>Journal of Open Source Software</a:t>
            </a:r>
            <a:r>
              <a:rPr/>
              <a:t>, </a:t>
            </a:r>
            <a:r>
              <a:rPr i="1"/>
              <a:t>1</a:t>
            </a:r>
            <a:r>
              <a:rPr/>
              <a:t>(5), 27. </a:t>
            </a:r>
            <a:r>
              <a:rPr>
                <a:hlinkClick r:id="rId3"/>
              </a:rPr>
              <a:t>https://doi.org/10.21105/joss.00027</a:t>
            </a:r>
          </a:p>
          <a:p>
            <a:pPr lvl="0" indent="0" marL="0">
              <a:buNone/>
            </a:pPr>
            <a:r>
              <a:rPr/>
              <a:t>Cerf, V. G., &amp; Kahn, R. E. (1974). A protocol for packet network intercommunication. </a:t>
            </a:r>
            <a:r>
              <a:rPr i="1"/>
              <a:t>IEEE Transactions on Communications</a:t>
            </a:r>
            <a:r>
              <a:rPr/>
              <a:t>, </a:t>
            </a:r>
            <a:r>
              <a:rPr i="1"/>
              <a:t>22</a:t>
            </a:r>
            <a:r>
              <a:rPr/>
              <a:t>(5), 637–648. </a:t>
            </a:r>
            <a:r>
              <a:rPr>
                <a:hlinkClick r:id="rId4"/>
              </a:rPr>
              <a:t>https://doi.org/10.1109/TCOM.1974.1092259</a:t>
            </a:r>
          </a:p>
          <a:p>
            <a:pPr lvl="0" indent="0" marL="0">
              <a:buNone/>
            </a:pPr>
            <a:r>
              <a:rPr/>
              <a:t>Delorme, A., &amp; Makeig, S. (2004). EEGLAB: An open source toolbox for analysis of single-trial EEG dynamics including independent component analysis. </a:t>
            </a:r>
            <a:r>
              <a:rPr i="1"/>
              <a:t>Journal of Neuroscience Methods</a:t>
            </a:r>
            <a:r>
              <a:rPr/>
              <a:t>, </a:t>
            </a:r>
            <a:r>
              <a:rPr i="1"/>
              <a:t>134</a:t>
            </a:r>
            <a:r>
              <a:rPr/>
              <a:t>(1), 9–21. </a:t>
            </a:r>
            <a:r>
              <a:rPr>
                <a:hlinkClick r:id="rId5"/>
              </a:rPr>
              <a:t>https://doi.org/10.1016/j.jneumeth.2003.10.009</a:t>
            </a:r>
          </a:p>
          <a:p>
            <a:pPr lvl="0" indent="0" marL="0">
              <a:buNone/>
            </a:pPr>
            <a:r>
              <a:rPr/>
              <a:t>Eastman, P., Swails, J., Chodera, J. D., McGibbon, R. T., Zhao, Y., Beauchamp, K. A., Wang, L.-P., Simmonett, A. C., Harrigan, M. P., Stern, C. D., Wiewiora, R. P., Brooks, B. R., &amp; Pande, V. S. (2017). OpenMM 7: Rapid development of high performance algorithms for molecular dynamics. </a:t>
            </a:r>
            <a:r>
              <a:rPr i="1"/>
              <a:t>PLOS Computational Biology</a:t>
            </a:r>
            <a:r>
              <a:rPr/>
              <a:t>, </a:t>
            </a:r>
            <a:r>
              <a:rPr i="1"/>
              <a:t>13</a:t>
            </a:r>
            <a:r>
              <a:rPr/>
              <a:t>(7), e1005659. </a:t>
            </a:r>
            <a:r>
              <a:rPr>
                <a:hlinkClick r:id="rId6"/>
              </a:rPr>
              <a:t>https://doi.org/10.1371/journal.pcbi.1005659</a:t>
            </a:r>
          </a:p>
          <a:p>
            <a:pPr lvl="0" indent="0" marL="0">
              <a:buNone/>
            </a:pPr>
            <a:r>
              <a:rPr/>
              <a:t>Gomez, J., Lovell, E., Lieggi, S., Cardenas, A. A., &amp; Davis, J. (2025). </a:t>
            </a:r>
            <a:r>
              <a:rPr i="1"/>
              <a:t>Recipe for discovery: A pipeline for institutional open source activity</a:t>
            </a:r>
            <a:r>
              <a:rPr/>
              <a:t>. </a:t>
            </a:r>
            <a:r>
              <a:rPr>
                <a:hlinkClick r:id="rId7"/>
              </a:rPr>
              <a:t>https://arxiv.org/abs/2506.18359</a:t>
            </a:r>
          </a:p>
          <a:p>
            <a:pPr lvl="0" indent="0" marL="0">
              <a:buNone/>
            </a:pPr>
            <a:r>
              <a:rPr/>
              <a:t>Hettrick, S., Antonioletti, M., Carr, L., Chue Hong, N., Crouch, S., De Roure, D., Emsley, I., Goble, C., Hay, A., Inupakutika, D., et al. (2014). </a:t>
            </a:r>
            <a:r>
              <a:rPr i="1"/>
              <a:t>UK Research Software Survey 2014</a:t>
            </a:r>
            <a:r>
              <a:rPr/>
              <a:t>. Software Sustainability Institute. </a:t>
            </a:r>
            <a:r>
              <a:rPr>
                <a:hlinkClick r:id="rId8"/>
              </a:rPr>
              <a:t>https://doi.org/10.5281/zenodo.14809</a:t>
            </a:r>
          </a:p>
          <a:p>
            <a:pPr lvl="0" indent="0" marL="0">
              <a:buNone/>
            </a:pPr>
            <a:r>
              <a:rPr/>
              <a:t>Hoffmann, M., Nagle, F., &amp; Zhou, Y. (2024). </a:t>
            </a:r>
            <a:r>
              <a:rPr i="1"/>
              <a:t>The value of open source software</a:t>
            </a:r>
            <a:r>
              <a:rPr/>
              <a:t> (Working Paper Nos. 24-038). Harvard Business School. </a:t>
            </a:r>
            <a:r>
              <a:rPr>
                <a:hlinkClick r:id="rId9"/>
              </a:rPr>
              <a:t>https://doi.org/10.2139/ssrn.4693148</a:t>
            </a:r>
          </a:p>
          <a:p>
            <a:pPr lvl="0" indent="0" marL="0">
              <a:buNone/>
            </a:pPr>
            <a:r>
              <a:rPr/>
              <a:t>Kent, W. J., Sugnet, C. W., Furey, T. S., Roskin, K. M., Pringle, T. H., Zahler, A. M., &amp; Haussler, D. (2002). The human genome browser at UCSC. </a:t>
            </a:r>
            <a:r>
              <a:rPr i="1"/>
              <a:t>Genome Research</a:t>
            </a:r>
            <a:r>
              <a:rPr/>
              <a:t>, </a:t>
            </a:r>
            <a:r>
              <a:rPr i="1"/>
              <a:t>12</a:t>
            </a:r>
            <a:r>
              <a:rPr/>
              <a:t>(6), 996–1006. </a:t>
            </a:r>
            <a:r>
              <a:rPr>
                <a:hlinkClick r:id="rId10"/>
              </a:rPr>
              <a:t>https://doi.org/10.1101/gr.229102</a:t>
            </a:r>
          </a:p>
          <a:p>
            <a:pPr lvl="0" indent="0" marL="0">
              <a:buNone/>
            </a:pPr>
            <a:r>
              <a:rPr/>
              <a:t>Kluyver, T., Ragan-Kelley, B., Pérez, F., Granger, B., Bussonnier, M., Frederic, J., Kelley, K., Hamrick, J., Grout, J., Corlay, S., Ivanov, P., Avila, D., Abdalla, S., &amp; Willing, C. (2016). Jupyter Notebooks — a publishing format for reproducible computational workflows. In F. Loizides &amp; B. Schmidt (Eds.), </a:t>
            </a:r>
            <a:r>
              <a:rPr i="1"/>
              <a:t>Positioning and power in academic publishing: Players, agents and agendas</a:t>
            </a:r>
            <a:r>
              <a:rPr/>
              <a:t> (pp. 87–90). IOS Press. </a:t>
            </a:r>
            <a:r>
              <a:rPr>
                <a:hlinkClick r:id="rId11"/>
              </a:rPr>
              <a:t>https://doi.org/10.3233/978-1-61499-649-1-87</a:t>
            </a:r>
          </a:p>
          <a:p>
            <a:pPr lvl="0" indent="0" marL="0">
              <a:buNone/>
            </a:pPr>
            <a:r>
              <a:rPr/>
              <a:t>Moritz, P., Nishihara, R., Wang, S., Tumanov, A., Liaw, R., Liang, E., Elibol, M., Yang, Z., Paul, W., Jordan, M. I., &amp; Stoica, I. (2018). Ray: A distributed framework for emerging AI applications. </a:t>
            </a:r>
            <a:r>
              <a:rPr i="1"/>
              <a:t>13th USENIX Symposium on Operating Systems Design and Implementation (OSDI)</a:t>
            </a:r>
            <a:r>
              <a:rPr/>
              <a:t>, 561–577.</a:t>
            </a:r>
          </a:p>
          <a:p>
            <a:pPr lvl="0" indent="0" marL="0">
              <a:buNone/>
            </a:pPr>
            <a:r>
              <a:rPr/>
              <a:t>Olson, A. D., &amp; Eggert, P. (1986). </a:t>
            </a:r>
            <a:r>
              <a:rPr i="1"/>
              <a:t>tz database (IANA time zone database)</a:t>
            </a:r>
            <a:r>
              <a:rPr/>
              <a:t>. IANA. </a:t>
            </a:r>
            <a:r>
              <a:rPr>
                <a:hlinkClick r:id="rId12"/>
              </a:rPr>
              <a:t>https://www.iana.org/time-zones</a:t>
            </a:r>
          </a:p>
          <a:p>
            <a:pPr lvl="0" indent="0" marL="0">
              <a:buNone/>
            </a:pPr>
            <a:r>
              <a:rPr/>
              <a:t>Ruff, N. (2026). </a:t>
            </a:r>
            <a:r>
              <a:rPr i="1"/>
              <a:t>The role of foundations in advancing open collaboration and innovation</a:t>
            </a:r>
            <a:r>
              <a:rPr/>
              <a:t>. UC Open Summit. </a:t>
            </a:r>
            <a:r>
              <a:rPr>
                <a:hlinkClick r:id="rId13"/>
              </a:rPr>
              <a:t>https://youtu.be/eBriL3CDNeo</a:t>
            </a:r>
          </a:p>
          <a:p>
            <a:pPr lvl="0" indent="0" marL="0">
              <a:buNone/>
            </a:pPr>
            <a:r>
              <a:rPr/>
              <a:t>Scarlett, V., Curty, R. G., Gomez, J., Langdon, L., Janée, G., &amp; Budden, A. E. (2025). </a:t>
            </a:r>
            <a:r>
              <a:rPr i="1"/>
              <a:t>A system-wide snapshot: A multi-campus survey of open source contributors at the University of California</a:t>
            </a:r>
            <a:r>
              <a:rPr/>
              <a:t>. SocArXiv. </a:t>
            </a:r>
            <a:r>
              <a:rPr>
                <a:hlinkClick r:id="rId14"/>
              </a:rPr>
              <a:t>https://doi.org/10.31235/osf.io/p8bx6_v1</a:t>
            </a:r>
          </a:p>
          <a:p>
            <a:pPr lvl="0" indent="0" marL="0">
              <a:buNone/>
            </a:pPr>
            <a:r>
              <a:rPr/>
              <a:t>Shannon, P., Markiel, A., Ozier, O., Baliga, N. S., Wang, J. T., Ramage, D., Amin, N., Schwikowski, B., &amp; Ideker, T. (2003). Cytoscape: A software environment for integrated models of biomolecular interaction networks. </a:t>
            </a:r>
            <a:r>
              <a:rPr i="1"/>
              <a:t>Genome Research</a:t>
            </a:r>
            <a:r>
              <a:rPr/>
              <a:t>, </a:t>
            </a:r>
            <a:r>
              <a:rPr i="1"/>
              <a:t>13</a:t>
            </a:r>
            <a:r>
              <a:rPr/>
              <a:t>(11), 2498–2504. </a:t>
            </a:r>
            <a:r>
              <a:rPr>
                <a:hlinkClick r:id="rId15"/>
              </a:rPr>
              <a:t>https://doi.org/10.1101/gr.1239303</a:t>
            </a:r>
          </a:p>
          <a:p>
            <a:pPr lvl="0" indent="0" marL="0">
              <a:buNone/>
            </a:pPr>
            <a:r>
              <a:rPr/>
              <a:t>Stonebraker, M., &amp; Rowe, L. A. (1987). </a:t>
            </a:r>
            <a:r>
              <a:rPr i="1"/>
              <a:t>The design of POSTGRES</a:t>
            </a:r>
            <a:r>
              <a:rPr/>
              <a:t> (UCB/ERL M86/85). University of California, Berkeley.</a:t>
            </a:r>
          </a:p>
          <a:p>
            <a:pPr lvl="0" indent="0" marL="0">
              <a:buNone/>
            </a:pPr>
            <a:r>
              <a:rPr/>
              <a:t>Stonebraker, M., Wong, E., Kreps, P., &amp; Held, G. (1976). The design and implementation of INGRES. </a:t>
            </a:r>
            <a:r>
              <a:rPr i="1"/>
              <a:t>ACM Transactions on Database Systems</a:t>
            </a:r>
            <a:r>
              <a:rPr/>
              <a:t>, </a:t>
            </a:r>
            <a:r>
              <a:rPr i="1"/>
              <a:t>1</a:t>
            </a:r>
            <a:r>
              <a:rPr/>
              <a:t>(3), 189–222. </a:t>
            </a:r>
            <a:r>
              <a:rPr>
                <a:hlinkClick r:id="rId16"/>
              </a:rPr>
              <a:t>https://doi.org/10.1145/320473.320476</a:t>
            </a:r>
          </a:p>
          <a:p>
            <a:pPr lvl="0" indent="0" marL="0">
              <a:buNone/>
            </a:pPr>
            <a:r>
              <a:rPr/>
              <a:t>Tidelift. (2024). </a:t>
            </a:r>
            <a:r>
              <a:rPr i="1"/>
              <a:t>The 2024 Tidelift maintainer impact report</a:t>
            </a:r>
            <a:r>
              <a:rPr/>
              <a:t>. Tidelift. </a:t>
            </a:r>
            <a:r>
              <a:rPr>
                <a:hlinkClick r:id="rId17"/>
              </a:rPr>
              <a:t>https://dev.to/tidelift/the-open-source-maintainer-community-is-getting-grayer-1gc2</a:t>
            </a:r>
          </a:p>
          <a:p>
            <a:pPr lvl="0" indent="0" marL="0">
              <a:buNone/>
            </a:pPr>
            <a:r>
              <a:rPr/>
              <a:t>Waterman, A., &amp; Asanović, K. (2019). </a:t>
            </a:r>
            <a:r>
              <a:rPr i="1"/>
              <a:t>The RISC-V instruction set manual, volume I: Unprivileged ISA</a:t>
            </a:r>
            <a:r>
              <a:rPr/>
              <a:t>. RISC-V Foundation. </a:t>
            </a:r>
            <a:r>
              <a:rPr>
                <a:hlinkClick r:id="rId18"/>
              </a:rPr>
              <a:t>https://github.com/riscv/riscv-isa-manual</a:t>
            </a:r>
          </a:p>
          <a:p>
            <a:pPr lvl="0" indent="0" marL="0">
              <a:buNone/>
            </a:pPr>
            <a:r>
              <a:rPr/>
              <a:t>Weil, S. A., Brandt, S. A., Miller, E. L., Long, D. D. E., &amp; Maltzahn, C. (2006). Ceph: A scalable, high-performance distributed file system. </a:t>
            </a:r>
            <a:r>
              <a:rPr i="1"/>
              <a:t>7th USENIX Symposium on Operating Systems Design and Implementation (OSDI)</a:t>
            </a:r>
            <a:r>
              <a:rPr/>
              <a:t>, 307–320.</a:t>
            </a:r>
          </a:p>
          <a:p>
            <a:pPr lvl="0" indent="0" marL="0">
              <a:buNone/>
            </a:pPr>
            <a:r>
              <a:rPr/>
              <a:t>Zaharia, M., Chowdhury, M., Das, T., Dave, A., Ma, J., McCauly, M., Franklin, M. J., Shenker, S., &amp; Stoica, I. (2012). Resilient distributed datasets: A fault-tolerant abstraction for in-memory cluster computing. </a:t>
            </a:r>
            <a:r>
              <a:rPr i="1"/>
              <a:t>9th USENIX Symposium on Networked Systems Design and Implementation (NSDI)</a:t>
            </a:r>
            <a:r>
              <a:rPr/>
              <a:t>, 15–28.</a:t>
            </a:r>
          </a:p>
          <a:p>
            <a:pPr lvl="0" indent="0" marL="0">
              <a:buNone/>
            </a:pPr>
            <a:r>
              <a:rPr/>
              <a:t>Zhang, L., Afanasyev, A., Burke, J., Jacobson, V., claffy, kc, Crowley, P., Papadopoulos, C., Wang, L., &amp; Zhang, B. (2014). Named data networking. </a:t>
            </a:r>
            <a:r>
              <a:rPr i="1"/>
              <a:t>ACM SIGCOMM Computer Communication Review</a:t>
            </a:r>
            <a:r>
              <a:rPr/>
              <a:t>, </a:t>
            </a:r>
            <a:r>
              <a:rPr i="1"/>
              <a:t>44</a:t>
            </a:r>
            <a:r>
              <a:rPr/>
              <a:t>(3), 66–73. </a:t>
            </a:r>
            <a:r>
              <a:rPr>
                <a:hlinkClick r:id="rId19"/>
              </a:rPr>
              <a:t>https://doi.org/10.1145/2656877.2656887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35e"/>
      </a:dk2>
      <a:lt2>
        <a:srgbClr val="f0f4fa"/>
      </a:lt2>
      <a:accent1>
        <a:srgbClr val="003cb3"/>
      </a:accent1>
      <a:accent2>
        <a:srgbClr val="ff9100"/>
      </a:accent2>
      <a:accent3>
        <a:srgbClr val="00a291"/>
      </a:accent3>
      <a:accent4>
        <a:srgbClr val="1f335e"/>
      </a:accent4>
      <a:accent5>
        <a:srgbClr val="f0f4fa"/>
      </a:accent5>
      <a:accent6>
        <a:srgbClr val="222832"/>
      </a:accent6>
      <a:hlink>
        <a:srgbClr val="003cb3"/>
      </a:hlink>
      <a:folHlink>
        <a:srgbClr val="ff91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Source as Institutional Infrastructure</dc:title>
  <dc:creator>Tim Dennis</dc:creator>
  <cp:keywords/>
  <dcterms:created xsi:type="dcterms:W3CDTF">2026-06-05T22:41:09Z</dcterms:created>
  <dcterms:modified xsi:type="dcterms:W3CDTF">2026-06-05T22:41:09Z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sl">
    <vt:lpwstr>https://raw.githubusercontent.com/citation-style-language/styles/master/apa.csl</vt:lpwstr>
  </property>
  <property fmtid="{D5CDD505-2E9C-101B-9397-08002B2CF9AE}" pid="9" name="engines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e">
    <vt:lpwstr/>
  </property>
  <property fmtid="{D5CDD505-2E9C-101B-9397-08002B2CF9AE}" pid="14" name="institutes">
    <vt:lpwstr/>
  </property>
  <property fmtid="{D5CDD505-2E9C-101B-9397-08002B2CF9AE}" pid="15" name="labels">
    <vt:lpwstr/>
  </property>
  <property fmtid="{D5CDD505-2E9C-101B-9397-08002B2CF9AE}" pid="16" name="nocite">
    <vt:lpwstr>@*</vt:lpwstr>
  </property>
  <property fmtid="{D5CDD505-2E9C-101B-9397-08002B2CF9AE}" pid="17" name="subtitle">
    <vt:lpwstr>Lessons from the UC OSPO Network</vt:lpwstr>
  </property>
  <property fmtid="{D5CDD505-2E9C-101B-9397-08002B2CF9AE}" pid="18" name="toc-title">
    <vt:lpwstr>Table of contents</vt:lpwstr>
  </property>
</Properties>
</file>