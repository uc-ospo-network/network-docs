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1" Type="http://schemas.openxmlformats.org/officeDocument/2006/relationships/slideMaster" Target="slideMasters/slideMaster1.xml" /><Relationship Id="rId26" Type="http://schemas.openxmlformats.org/officeDocument/2006/relationships/presProps" Target="presProps.xml" /><Relationship Id="rId27" Type="http://schemas.openxmlformats.org/officeDocument/2006/relationships/viewProps" Target="viewProps.xml" /><Relationship Id="rId28" Type="http://schemas.openxmlformats.org/officeDocument/2006/relationships/theme" Target="theme/theme1.xml" /><Relationship Id="rId29"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92%/67% stats: set the stakes before the slide text does; audience already lives this</a:t>
            </a:r>
          </a:p>
          <a:p>
            <a:pPr lvl="0" indent="0" marL="0">
              <a:buNone/>
            </a:pPr>
          </a:p>
          <a:p>
            <a:pPr lvl="0"/>
            <a:r>
              <a:rPr/>
              <a:t>RSE identity = researchers organizing around the support gap; US-RSE launched 2018, now thousands of members</a:t>
            </a:r>
          </a:p>
          <a:p>
            <a:pPr lvl="0" indent="0" marL="0">
              <a:buNone/>
            </a:pPr>
          </a:p>
          <a:p>
            <a:pPr lvl="0"/>
            <a:r>
              <a:rPr/>
              <a:t>The gap: maintainer burns out → library abandoned; licensing question → publication blocked; nowhere to turn</a:t>
            </a:r>
          </a:p>
          <a:p>
            <a:pPr lvl="0" indent="0" marL="0">
              <a:buNone/>
            </a:pPr>
          </a:p>
          <a:p>
            <a:pPr lvl="0"/>
            <a:r>
              <a:rPr/>
              <a:t>$8.8T breakdown: supply-side cost to recreate top 5,000 packages = $4.15B; demand-side if OSS disappeared = $8.8T (~2,000x ratio)</a:t>
            </a:r>
          </a:p>
          <a:p>
            <a:pPr lvl="0" indent="0" marL="0">
              <a:buNone/>
            </a:pPr>
          </a:p>
          <a:p>
            <a:pPr lvl="0"/>
            <a:r>
              <a:rPr/>
              <a:t>Use that ratio with admins or funders who think this is a niche concern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FAIR didn’t happen by accident: data professionals insisted data deserved first-class treatment as a scholarly output</a:t>
            </a:r>
          </a:p>
          <a:p>
            <a:pPr lvl="0" indent="0" marL="0">
              <a:buNone/>
            </a:pPr>
          </a:p>
          <a:p>
            <a:pPr lvl="0"/>
            <a:r>
              <a:rPr/>
              <a:t>FAIR4RS (Barker et al. 2022, RDA/FORCE11/ReSA) = same inflection point for software that FAIR was for data</a:t>
            </a:r>
          </a:p>
          <a:p>
            <a:pPr lvl="0" indent="0" marL="0">
              <a:buNone/>
            </a:pPr>
          </a:p>
          <a:p>
            <a:pPr lvl="0"/>
            <a:r>
              <a:rPr/>
              <a:t>UC pipeline is the proof that research → global infrastructure is a pattern, not a fluke (details on next slide)</a:t>
            </a:r>
          </a:p>
          <a:p>
            <a:pPr lvl="0" indent="0" marL="0">
              <a:buNone/>
            </a:pPr>
          </a:p>
          <a:p>
            <a:pPr lvl="0"/>
            <a:r>
              <a:rPr/>
              <a:t>Ruff: “The students writing their class projects this very semester may be creating the next Ray” — not a metaphor, a track record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Berkeley = audience-recognizable headlines; point to the whole grid: systems (Berkeley, UCSC), bioinformatics/neuroscience (UCSD, UCSF, Davis), internet infrastructure (UCLA)</a:t>
            </a:r>
          </a:p>
          <a:p>
            <a:pPr lvl="0" indent="0" marL="0">
              <a:buNone/>
            </a:pPr>
          </a:p>
          <a:p>
            <a:pPr lvl="0"/>
            <a:r>
              <a:rPr b="1"/>
              <a:t>Jupyter</a:t>
            </a:r>
            <a:r>
              <a:rPr/>
              <a:t>: Pérez procrastinating on his physics PhD, built IPython in an afternoon</a:t>
            </a:r>
          </a:p>
          <a:p>
            <a:pPr lvl="0" indent="0" marL="0">
              <a:buNone/>
            </a:pPr>
          </a:p>
          <a:p>
            <a:pPr lvl="0"/>
            <a:r>
              <a:rPr b="1"/>
              <a:t>Spark</a:t>
            </a:r>
            <a:r>
              <a:rPr/>
              <a:t>: Zaharia’s classmate needed faster distributed ML to compete in the $1M Netflix Prize; Databricks now $60B+</a:t>
            </a:r>
          </a:p>
          <a:p>
            <a:pPr lvl="0" indent="0" marL="0">
              <a:buNone/>
            </a:pPr>
          </a:p>
          <a:p>
            <a:pPr lvl="0"/>
            <a:r>
              <a:rPr b="1"/>
              <a:t>RISC-V</a:t>
            </a:r>
            <a:r>
              <a:rPr/>
              <a:t>: 3-month summer project so grad students could experiment without paying ARM royalties; now in 10B devices; moved to Switzerland in 2020 to stay neutral in US-China trade war</a:t>
            </a:r>
          </a:p>
          <a:p>
            <a:pPr lvl="0" indent="0" marL="0">
              <a:buNone/>
            </a:pPr>
          </a:p>
          <a:p>
            <a:pPr lvl="0"/>
            <a:r>
              <a:rPr b="1"/>
              <a:t>Ray</a:t>
            </a:r>
            <a:r>
              <a:rPr/>
              <a:t>: two PhD students tired of rewriting Python to scale past one machine; now core OpenAI compute infrastructure</a:t>
            </a:r>
          </a:p>
          <a:p>
            <a:pPr lvl="0" indent="0" marL="0">
              <a:buNone/>
            </a:pPr>
          </a:p>
          <a:p>
            <a:pPr lvl="0"/>
            <a:r>
              <a:rPr b="1"/>
              <a:t>Ceph</a:t>
            </a:r>
            <a:r>
              <a:rPr/>
              <a:t>: Weil’s 2004 dissertation → Inktank → Red Hat acquisition → CROSS funded the first UC OSPO (seed of this network)</a:t>
            </a:r>
          </a:p>
          <a:p>
            <a:pPr lvl="0" indent="0" marL="0">
              <a:buNone/>
            </a:pPr>
          </a:p>
          <a:p>
            <a:pPr lvl="0"/>
            <a:r>
              <a:rPr b="1"/>
              <a:t>Genome Browser</a:t>
            </a:r>
            <a:r>
              <a:rPr/>
              <a:t>: Jim Kent assembled the genome on 50 borrowed PCs (details next slide)</a:t>
            </a:r>
          </a:p>
          <a:p>
            <a:pPr lvl="0" indent="0" marL="0">
              <a:buNone/>
            </a:pPr>
          </a:p>
          <a:p>
            <a:pPr lvl="0"/>
            <a:r>
              <a:rPr b="1"/>
              <a:t>Cytoscape</a:t>
            </a:r>
            <a:r>
              <a:rPr/>
              <a:t>: molecular interaction tables too big for spreadsheets → visual “living maps” of the cell; de facto standard for network biology</a:t>
            </a:r>
          </a:p>
          <a:p>
            <a:pPr lvl="0" indent="0" marL="0">
              <a:buNone/>
            </a:pPr>
          </a:p>
          <a:p>
            <a:pPr lvl="0"/>
            <a:r>
              <a:rPr b="1"/>
              <a:t>EEGLAB</a:t>
            </a:r>
            <a:r>
              <a:rPr/>
              <a:t>: funded by the inventor of laser barcoding who wanted to decode the brain’s scanning systems</a:t>
            </a:r>
          </a:p>
          <a:p>
            <a:pPr lvl="0" indent="0" marL="0">
              <a:buNone/>
            </a:pPr>
          </a:p>
          <a:p>
            <a:pPr lvl="0"/>
            <a:r>
              <a:rPr b="1"/>
              <a:t>Processing</a:t>
            </a:r>
            <a:r>
              <a:rPr/>
              <a:t>: Reas + Fry, MIT Media Lab 2001; teach programming through visual art; now the Processing Foundation</a:t>
            </a:r>
          </a:p>
          <a:p>
            <a:pPr lvl="0" indent="0" marL="0">
              <a:buNone/>
            </a:pPr>
          </a:p>
          <a:p>
            <a:pPr lvl="0"/>
            <a:r>
              <a:rPr b="1"/>
              <a:t>tz database</a:t>
            </a:r>
            <a:r>
              <a:rPr/>
              <a:t>: Eggert used 19th-century astrologers’ almanacs to reconstruct pre-1883 timezone history; every OS clock depends on it</a:t>
            </a:r>
          </a:p>
          <a:p>
            <a:pPr lvl="0" indent="0" marL="0">
              <a:buNone/>
            </a:pPr>
          </a:p>
          <a:p>
            <a:pPr lvl="0"/>
            <a:r>
              <a:rPr b="1"/>
              <a:t>sourmash</a:t>
            </a:r>
            <a:r>
              <a:rPr/>
              <a:t>: FracMinHash sketching — a laptop now searches billions of genome sequences in seconds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Take a beat. Let the room absorb it.</a:t>
            </a:r>
          </a:p>
          <a:p>
            <a:pPr lvl="0" indent="0" marL="0">
              <a:buNone/>
            </a:pPr>
          </a:p>
          <a:p>
            <a:pPr lvl="0"/>
            <a:r>
              <a:rPr/>
              <a:t>Celera: $300M private funding, dedicated supercomputer cluster; Kent: 50 off-the-shelf PCs assembled in a hallway</a:t>
            </a:r>
          </a:p>
          <a:p>
            <a:pPr lvl="0" indent="0" marL="0">
              <a:buNone/>
            </a:pPr>
          </a:p>
          <a:p>
            <a:pPr lvl="0"/>
            <a:r>
              <a:rPr/>
              <a:t>GigAssembler (~10,000 lines of C) in a few intense weeks, reportedly while icing his wrists to prevent carpal tunnel</a:t>
            </a:r>
          </a:p>
          <a:p>
            <a:pPr lvl="0" indent="0" marL="0">
              <a:buNone/>
            </a:pPr>
          </a:p>
          <a:p>
            <a:pPr lvl="0"/>
            <a:r>
              <a:rPr/>
              <a:t>This is the open data argument — scientific outputs belong in the commons — applied to software and won by a grad student</a:t>
            </a:r>
          </a:p>
          <a:p>
            <a:pPr lvl="0" indent="0" marL="0">
              <a:buNone/>
            </a:pPr>
          </a:p>
          <a:p>
            <a:pPr lvl="0"/>
            <a:r>
              <a:rPr/>
              <a:t>After the beat: “That is what UC research infrastructure looks like at the start.”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Map is live and interactive — hover for institution names; UC = orange cluster on the west coast</a:t>
            </a:r>
          </a:p>
          <a:p>
            <a:pPr lvl="0" indent="0" marL="0">
              <a:buNone/>
            </a:pPr>
          </a:p>
          <a:p>
            <a:pPr lvl="0"/>
            <a:r>
              <a:rPr/>
              <a:t>CNI late 2024: ~20 members; now 34, growing fast</a:t>
            </a:r>
          </a:p>
          <a:p>
            <a:pPr lvl="0" indent="0" marL="0">
              <a:buNone/>
            </a:pPr>
          </a:p>
          <a:p>
            <a:pPr lvl="0"/>
            <a:r>
              <a:rPr/>
              <a:t>Academic model: less compliance, more enabling researchers and students already doing OSS work without any support structure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Six campuses span the length of the state</a:t>
            </a:r>
          </a:p>
          <a:p>
            <a:pPr lvl="0" indent="0" marL="0">
              <a:buNone/>
            </a:pPr>
          </a:p>
          <a:p>
            <a:pPr lvl="0"/>
            <a:r>
              <a:rPr/>
              <a:t>UCSC head start: Ceph (Weil’s 2004 dissertation) → Inktank → Red Hat → CROSS → first UC OSPO 2022 → Sloan funded the network</a:t>
            </a:r>
          </a:p>
          <a:p>
            <a:pPr lvl="0" indent="0" marL="0">
              <a:buNone/>
            </a:pPr>
          </a:p>
          <a:p>
            <a:pPr lvl="0"/>
            <a:r>
              <a:rPr/>
              <a:t>Neutral convener framing (Ruff, UC Open 2026, 8:17–8:49): “code held in a neutral trust place — no single company can pull on it, no single country can claim it”; UC OSPO Network does this at system scale for policy and governance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All network activity falls under these three. Governance maps to them: OSPO Leadership Group plus one working group per theme.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a methods story the audience recognizes: inventory, assess, make visible — what data librarians do</a:t>
            </a:r>
          </a:p>
          <a:p>
            <a:pPr lvl="0" indent="0" marL="0">
              <a:buNone/>
            </a:pPr>
          </a:p>
          <a:p>
            <a:pPr lvl="0"/>
            <a:r>
              <a:rPr/>
              <a:t>Juanita Gomez led GitHub analysis and built UC ORB; full FOSSY talk: “Recipe for Discovery: Building the UC Open Source Repository Browser From Scratch”</a:t>
            </a:r>
          </a:p>
          <a:p>
            <a:pPr lvl="0" indent="0" marL="0">
              <a:buNone/>
            </a:pPr>
          </a:p>
          <a:p>
            <a:pPr lvl="0"/>
            <a:r>
              <a:rPr/>
              <a:t>200,000+ = full pipeline scan; 52,000 = repos with strong institutional affiliation after filtering</a:t>
            </a:r>
          </a:p>
          <a:p>
            <a:pPr lvl="0" indent="0" marL="0">
              <a:buNone/>
            </a:pPr>
          </a:p>
          <a:p>
            <a:pPr lvl="0"/>
            <a:r>
              <a:rPr/>
              <a:t>Survey preprint data going to Dryad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58% = the key reframe: not people who downloaded a package, but sustaining infrastructure others depend on — mostly without institutional recognition</a:t>
            </a:r>
          </a:p>
          <a:p>
            <a:pPr lvl="0" indent="0" marL="0">
              <a:buNone/>
            </a:pPr>
          </a:p>
          <a:p>
            <a:pPr lvl="0"/>
            <a:r>
              <a:rPr/>
              <a:t>Licensing working group = clearest example of what only the network can do: UCOP + tech transfer (UCLA, UCB, UCSC) + IT; that table doesn’t exist without a network-level convener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Let the comic breathe. The joke lands on its own.</a:t>
            </a:r>
          </a:p>
          <a:p>
            <a:pPr lvl="0" indent="0" marL="0">
              <a:buNone/>
            </a:pPr>
          </a:p>
          <a:p>
            <a:pPr lvl="0"/>
            <a:r>
              <a:rPr/>
              <a:t>“A project some random person in Nebraska has been thanklessly maintaining since 2003” — that person is at every UC campus and most of your institutions too</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70%/90% stats = direct quotes from Ruff keynote, UC Open 2026 (6:15–7:15)</a:t>
            </a:r>
          </a:p>
          <a:p>
            <a:pPr lvl="0" indent="0" marL="0">
              <a:buNone/>
            </a:pPr>
          </a:p>
          <a:p>
            <a:pPr lvl="0"/>
            <a:r>
              <a:rPr/>
              <a:t>Baltes, Cheong &amp; Treude (2026) arXiv:2603.27249: frames “slop PRs” as tragedy of the commons — individual productivity gains push costs onto maintainers</a:t>
            </a:r>
          </a:p>
          <a:p>
            <a:pPr lvl="0" indent="0" marL="0">
              <a:buNone/>
            </a:pPr>
          </a:p>
          <a:p>
            <a:pPr lvl="0"/>
            <a:r>
              <a:rPr/>
              <a:t>Real examples: curl shut down its bug bounty in early 2026 (AI vulnerability reports turned 15-min verifications into days of work); Godot + RubyGems saw 10x spikes in low-quality AI contributions</a:t>
            </a:r>
          </a:p>
          <a:p>
            <a:pPr lvl="0" indent="0" marL="0">
              <a:buNone/>
            </a:pPr>
          </a:p>
          <a:p>
            <a:pPr lvl="0"/>
            <a:r>
              <a:rPr/>
              <a:t>GitClear (2024): AI-assisted dev measurably increases code churn and reduces reuse — more review work on lower-quality patches</a:t>
            </a:r>
          </a:p>
          <a:p>
            <a:pPr lvl="0" indent="0" marL="0">
              <a:buNone/>
            </a:pPr>
          </a:p>
          <a:p>
            <a:pPr lvl="0"/>
            <a:r>
              <a:rPr/>
              <a:t>Ruff on urgency: “The governance layer for AI is being written in 18–36 months. If you’re not in the room, you’ll inherit a system you have to live with.”</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Most direct connection to IASSIST members’ world</a:t>
            </a:r>
          </a:p>
          <a:p>
            <a:pPr lvl="0" indent="0" marL="0">
              <a:buNone/>
            </a:pPr>
          </a:p>
          <a:p>
            <a:pPr lvl="0"/>
            <a:r>
              <a:rPr/>
              <a:t>Treat training the way data professionals treat data: find what exists, identify gaps, don’t duplicate</a:t>
            </a:r>
          </a:p>
          <a:p>
            <a:pPr lvl="0" indent="0" marL="0">
              <a:buNone/>
            </a:pPr>
          </a:p>
          <a:p>
            <a:pPr lvl="0"/>
            <a:r>
              <a:rPr/>
              <a:t>It’s a living curriculum inventory, not a course catalog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Each campus is a node that both contributes and draws from the network (not competing priorities)</a:t>
            </a:r>
          </a:p>
          <a:p>
            <a:pPr lvl="0" indent="0" marL="0">
              <a:buNone/>
            </a:pPr>
          </a:p>
          <a:p>
            <a:pPr lvl="0"/>
            <a:r>
              <a:rPr/>
              <a:t>Campus specializations: Davis → software sustainability research; UCLA → library integration + data services; UCSD → educational outreach; UCSC → deepest OSS governance history (CROSS)</a:t>
            </a:r>
          </a:p>
          <a:p>
            <a:pPr lvl="0" indent="0" marL="0">
              <a:buNone/>
            </a:pPr>
          </a:p>
          <a:p>
            <a:pPr lvl="0"/>
            <a:r>
              <a:rPr/>
              <a:t>Governance: OSPO Leadership Group (one rep per campus) sets direction; three thematic working groups do the work; GitHub-based project management keeps it open and legible</a:t>
            </a:r>
          </a:p>
          <a:p>
            <a:pPr lvl="0" indent="0" marL="0">
              <a:buNone/>
            </a:pPr>
          </a:p>
          <a:p>
            <a:pPr lvl="0"/>
            <a:r>
              <a:rPr/>
              <a:t>Key point for this audience: a librarian at a smaller campus now has access to expertise from six campuses — that’s what the network actually delivers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Two years in, the model works</a:t>
            </a:r>
          </a:p>
          <a:p>
            <a:pPr lvl="0" indent="0" marL="0">
              <a:buNone/>
            </a:pPr>
          </a:p>
          <a:p>
            <a:pPr lvl="0"/>
            <a:r>
              <a:rPr/>
              <a:t>Open question: moving from grant funding to permanent infrastructure — working on Sloan extension, exploring UCOP pathways</a:t>
            </a:r>
          </a:p>
          <a:p>
            <a:pPr lvl="0" indent="0" marL="0">
              <a:buNone/>
            </a:pPr>
          </a:p>
          <a:p>
            <a:pPr lvl="0"/>
            <a:r>
              <a:rPr/>
              <a:t>The pattern (distributed nodes, shared governance, thematic working groups) is transferable to any large university system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invitation: IASSIST members should be at the OSPO table — you work across the research lifecycle, understand data governance, run training programs</a:t>
            </a:r>
          </a:p>
          <a:p>
            <a:pPr lvl="0" indent="0" marL="0">
              <a:buNone/>
            </a:pPr>
          </a:p>
          <a:p>
            <a:pPr lvl="0"/>
            <a:r>
              <a:rPr/>
              <a:t>RSEs are natural collaborators, many already embedded in or adjacent to library services</a:t>
            </a:r>
          </a:p>
          <a:p>
            <a:pPr lvl="0" indent="0" marL="0">
              <a:buNone/>
            </a:pPr>
          </a:p>
          <a:p>
            <a:pPr lvl="0"/>
            <a:r>
              <a:rPr/>
              <a:t>Question for the room: does your institution have an RSE group, research computing team, or data science center? That’s where this conversation belongs.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Core distinction: reactive (fixes the week) vs. capacity-building (shifts lab practice that compounds across students and grants)</a:t>
            </a:r>
          </a:p>
          <a:p>
            <a:pPr lvl="0" indent="0" marL="0">
              <a:buNone/>
            </a:pPr>
          </a:p>
          <a:p>
            <a:pPr lvl="0"/>
            <a:r>
              <a:rPr/>
              <a:t>Not about turning every data librarian into an OSPO director — about shifting what a researcher walks away knowing</a:t>
            </a:r>
          </a:p>
          <a:p>
            <a:pPr lvl="0" indent="0" marL="0">
              <a:buNone/>
            </a:pPr>
          </a:p>
          <a:p>
            <a:pPr lvl="0"/>
            <a:r>
              <a:rPr/>
              <a:t>Health signals (bus factor, issue velocity, contributor diversity) = will this project be there next year?</a:t>
            </a:r>
          </a:p>
          <a:p>
            <a:pPr lvl="0" indent="0" marL="0">
              <a:buNone/>
            </a:pPr>
          </a:p>
          <a:p>
            <a:pPr lvl="0"/>
            <a:r>
              <a:rPr/>
              <a:t>Governance files (README, CONTRIBUTING, CODE_OF_CONDUCT) = data README equivalent; make the project legible to the next person</a:t>
            </a:r>
          </a:p>
          <a:p>
            <a:pPr lvl="0" indent="0" marL="0">
              <a:buNone/>
            </a:pPr>
          </a:p>
          <a:p>
            <a:pPr lvl="0"/>
            <a:r>
              <a:rPr/>
              <a:t>FAIR4RS + software DMPs = policy anchors that give researchers a reason to care now</a:t>
            </a:r>
          </a:p>
          <a:p>
            <a:pPr lvl="0" indent="0" marL="0">
              <a:buNone/>
            </a:pPr>
          </a:p>
          <a:p>
            <a:pPr lvl="0"/>
            <a:r>
              <a:rPr/>
              <a:t>You don’t need institutional approval: use the vocabulary and resources from ucospo.net in consultations today — you’re already in the room where these questions get raised</a:t>
            </a:r>
          </a:p>
          <a:p>
            <a:pPr lvl="0" indent="0" marL="0">
              <a:buNone/>
            </a:pPr>
          </a:p>
          <a:p>
            <a:pPr lvl="0"/>
            <a:r>
              <a:rPr/>
              <a:t>Carpentries angle: adding a session on software health, licensing, and CITATION.cff is low lift for every researcher in that room</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Don’t build these yourself: Laura Langdon published templates + guides for all four key files in September 2025 — on ucospo.net now</a:t>
            </a:r>
          </a:p>
          <a:p>
            <a:pPr lvl="0" indent="0" marL="0">
              <a:buNone/>
            </a:pPr>
          </a:p>
          <a:p>
            <a:pPr lvl="0"/>
            <a:r>
              <a:rPr/>
              <a:t>Carpentries lesson (mine, pre-alpha but usable): full workflow from licensing through environment management to minting a DOI on Zenodo</a:t>
            </a:r>
          </a:p>
          <a:p>
            <a:pPr lvl="0" indent="0" marL="0">
              <a:buNone/>
            </a:pPr>
          </a:p>
          <a:p>
            <a:pPr lvl="0"/>
            <a:r>
              <a:rPr/>
              <a:t>A researcher who already deposits data with your help is one conversation away from a fully citable software package</a:t>
            </a:r>
          </a:p>
          <a:p>
            <a:pPr lvl="0" indent="0" marL="0">
              <a:buNone/>
            </a:pPr>
          </a:p>
          <a:p>
            <a:pPr lvl="0"/>
            <a:r>
              <a:rPr/>
              <a:t>You need the consultation habit and a link to these resources. That’s it.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UC ORB: good follow-up for anyone who wants to see the discovery tooling</a:t>
            </a:r>
          </a:p>
          <a:p>
            <a:pPr lvl="0" indent="0" marL="0">
              <a:buNone/>
            </a:pPr>
          </a:p>
          <a:p>
            <a:pPr lvl="0"/>
            <a:r>
              <a:rPr/>
              <a:t>CURIOSS community: good follow-up for anyone whose institution is thinking about starting an OSPO</a:t>
            </a:r>
          </a:p>
          <a:p>
            <a:pPr lvl="0" indent="0" marL="0">
              <a:buNone/>
            </a:pPr>
          </a:p>
          <a:p>
            <a:pPr lvl="0"/>
            <a:r>
              <a:rPr/>
              <a:t>Leave time for questions — AI and sustainability slides tend to generate them</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F33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solidFill>
                  <a:srgbClr val="FFFFFF"/>
                </a:solidFill>
              </a:rPr>
              <a:t>Click to edit Master title style</a:t>
            </a:r>
          </a:p>
        </p:txBody>
      </p:sp>
      <p:sp>
        <p:nvSpPr>
          <p:cNvPr id="3" name="Subtitle 2"/>
          <p:cNvSpPr>
            <a:spLocks noGrp="1"/>
          </p:cNvSpPr>
          <p:nvPr>
            <p:ph type="subTitle" idx="1"/>
          </p:nvPr>
        </p:nvSpPr>
        <p:spPr>
          <a:xfrm>
            <a:off x="1371600" y="2914650"/>
            <a:ext cx="6400800" cy="1314450"/>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solidFill>
                  <a:srgbClr val="FFFFFF"/>
                </a:solidFill>
              </a:rPr>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fld id="{241EB5C9-1307-BA42-ABA2-0BC069CD8E7F}" type="datetimeFigureOut">
              <a:rPr lang="en-US" smtClean="0">
                <a:solidFill>
                  <a:srgbClr val="FFFFFF"/>
                </a:solidFill>
              </a:rPr>
              <a:t>1/2/22</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fld id="{C5EF2332-01BF-834F-8236-50238282D533}" type="slidenum">
              <a:rPr lang="en-US" smtClean="0">
                <a:solidFill>
                  <a:srgbClr val="FFFFFF"/>
                </a:solidFill>
              </a:rPr>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Content Placeholder 2"/>
          <p:cNvSpPr>
            <a:spLocks noGrp="1"/>
          </p:cNvSpPr>
          <p:nvPr>
            <p:ph idx="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4" name="Date Placeholder 3"/>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5" name="Footer Placeholder 4"/>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6" name="Slide Number Placeholder 5"/>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0" y="1139429"/>
            <a:ext cx="82296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1F33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en-US">
                <a:solidFill>
                  <a:srgbClr val="FFFFFF"/>
                </a:solidFill>
              </a:rPr>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pPr lvl="0"/>
            <a:r>
              <a:rPr lang="en-US">
                <a:solidFill>
                  <a:srgbClr val="FFFFFF"/>
                </a:solidFill>
              </a:rPr>
              <a:t>Click to edit Master text styles</a:t>
            </a:r>
          </a:p>
        </p:txBody>
      </p:sp>
      <p:sp>
        <p:nvSpPr>
          <p:cNvPr id="4" name="Date Placeholder 3"/>
          <p:cNvSpPr>
            <a:spLocks noGrp="1"/>
          </p:cNvSpPr>
          <p:nvPr>
            <p:ph type="dt" sz="half" idx="10"/>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fld id="{241EB5C9-1307-BA42-ABA2-0BC069CD8E7F}" type="datetimeFigureOut">
              <a:rPr lang="en-US" smtClean="0">
                <a:solidFill>
                  <a:srgbClr val="FFFFFF"/>
                </a:solidFill>
              </a:rPr>
              <a:t>1/2/22</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fld id="{C5EF2332-01BF-834F-8236-50238282D533}" type="slidenum">
              <a:rPr lang="en-US" smtClean="0">
                <a:solidFill>
                  <a:srgbClr val="FFFFFF"/>
                </a:solidFill>
              </a:rPr>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4" name="Content Placeholder 3"/>
          <p:cNvSpPr>
            <a:spLocks noGrp="1"/>
          </p:cNvSpPr>
          <p:nvPr>
            <p:ph sz="half" idx="2"/>
          </p:nvPr>
        </p:nvSpPr>
        <p:spPr>
          <a:xfrm>
            <a:off x="4648200" y="1200151"/>
            <a:ext cx="4038600" cy="3394472"/>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5" name="Date Placeholder 4"/>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6" name="Footer Placeholder 5"/>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7" name="Slide Number Placeholder 6"/>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0" y="1139429"/>
            <a:ext cx="82296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5" name="Text Placeholder 4"/>
          <p:cNvSpPr>
            <a:spLocks noGrp="1"/>
          </p:cNvSpPr>
          <p:nvPr>
            <p:ph type="body" sz="quarter" idx="3"/>
          </p:nvPr>
        </p:nvSpPr>
        <p:spPr>
          <a:xfrm>
            <a:off x="4645026" y="1151335"/>
            <a:ext cx="4041775" cy="479822"/>
          </a:xfrm>
        </p:spPr>
        <p:txBody>
          <a:bodyPr anchor="b"/>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7" name="Date Placeholder 6"/>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8" name="Footer Placeholder 7"/>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9" name="Slide Number Placeholder 8"/>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0" y="1139429"/>
            <a:ext cx="82296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Date Placeholder 2"/>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4" name="Footer Placeholder 3"/>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5" name="Slide Number Placeholder 4"/>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0" y="1139429"/>
            <a:ext cx="82296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3" name="Footer Placeholder 2"/>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4" name="Slide Number Placeholder 3"/>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4" name="Text Placeholder 3"/>
          <p:cNvSpPr>
            <a:spLocks noGrp="1"/>
          </p:cNvSpPr>
          <p:nvPr>
            <p:ph type="body" sz="half" idx="2"/>
          </p:nvPr>
        </p:nvSpPr>
        <p:spPr>
          <a:xfrm>
            <a:off x="457201" y="1076326"/>
            <a:ext cx="3008313" cy="3518297"/>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p:txBody>
      </p:sp>
      <p:sp>
        <p:nvSpPr>
          <p:cNvPr id="5" name="Date Placeholder 4"/>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6" name="Footer Placeholder 5"/>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7" name="Slide Number Placeholder 6"/>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1" y="1152525"/>
            <a:ext cx="3008313"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p:txBody>
      </p:sp>
      <p:sp>
        <p:nvSpPr>
          <p:cNvPr id="5" name="Date Placeholder 4"/>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6" name="Footer Placeholder 5"/>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7" name="Slide Number Placeholder 6"/>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1792288" y="4101704"/>
            <a:ext cx="54864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Vertical Text Placeholder 2"/>
          <p:cNvSpPr>
            <a:spLocks noGrp="1"/>
          </p:cNvSpPr>
          <p:nvPr>
            <p:ph type="body" orient="vert" idx="1"/>
          </p:nvPr>
        </p:nvSpPr>
        <p:spPr/>
        <p:txBody>
          <a:bodyPr vert="eaVert"/>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4" name="Date Placeholder 3"/>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5" name="Footer Placeholder 4"/>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6" name="Slide Number Placeholder 5"/>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457200" y="1139429"/>
            <a:ext cx="82296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lvl1pPr>
              <a:defRPr b="1">
                <a:solidFill>
                  <a:srgbClr val="1F335E"/>
                </a:solidFill>
              </a:defRPr>
            </a:lvl1pPr>
            <a:lvl2pPr>
              <a:defRPr b="1">
                <a:solidFill>
                  <a:srgbClr val="1F335E"/>
                </a:solidFill>
              </a:defRPr>
            </a:lvl2pPr>
            <a:lvl3pPr>
              <a:defRPr b="1">
                <a:solidFill>
                  <a:srgbClr val="1F335E"/>
                </a:solidFill>
              </a:defRPr>
            </a:lvl3pPr>
            <a:lvl4pPr>
              <a:defRPr b="1">
                <a:solidFill>
                  <a:srgbClr val="1F335E"/>
                </a:solidFill>
              </a:defRPr>
            </a:lvl4pPr>
            <a:lvl5pPr>
              <a:defRPr b="1">
                <a:solidFill>
                  <a:srgbClr val="1F335E"/>
                </a:solidFill>
              </a:defRPr>
            </a:lvl5pPr>
            <a:lvl6pPr>
              <a:defRPr b="1">
                <a:solidFill>
                  <a:srgbClr val="1F335E"/>
                </a:solidFill>
              </a:defRPr>
            </a:lvl6pPr>
            <a:lvl7pPr>
              <a:defRPr b="1">
                <a:solidFill>
                  <a:srgbClr val="1F335E"/>
                </a:solidFill>
              </a:defRPr>
            </a:lvl7pPr>
            <a:lvl8pPr>
              <a:defRPr b="1">
                <a:solidFill>
                  <a:srgbClr val="1F335E"/>
                </a:solidFill>
              </a:defRPr>
            </a:lvl8pPr>
            <a:lvl9pPr>
              <a:defRPr b="1">
                <a:solidFill>
                  <a:srgbClr val="1F335E"/>
                </a:solidFill>
              </a:defRPr>
            </a:lvl9pPr>
          </a:lstStyle>
          <a:p>
            <a:r>
              <a:rPr lang="en-US">
                <a:solidFill>
                  <a:srgbClr val="1F335E"/>
                </a:solidFill>
              </a:rPr>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pPr lvl="0"/>
            <a:r>
              <a:rPr lang="en-US">
                <a:solidFill>
                  <a:srgbClr val="222832"/>
                </a:solidFill>
              </a:rPr>
              <a:t>Click to edit Master text styles</a:t>
            </a:r>
          </a:p>
          <a:p>
            <a:pPr lvl="1"/>
            <a:r>
              <a:rPr lang="en-US">
                <a:solidFill>
                  <a:srgbClr val="222832"/>
                </a:solidFill>
              </a:rPr>
              <a:t>Second level</a:t>
            </a:r>
          </a:p>
          <a:p>
            <a:pPr lvl="2"/>
            <a:r>
              <a:rPr lang="en-US">
                <a:solidFill>
                  <a:srgbClr val="222832"/>
                </a:solidFill>
              </a:rPr>
              <a:t>Third level</a:t>
            </a:r>
          </a:p>
          <a:p>
            <a:pPr lvl="3"/>
            <a:r>
              <a:rPr lang="en-US">
                <a:solidFill>
                  <a:srgbClr val="222832"/>
                </a:solidFill>
              </a:rPr>
              <a:t>Fourth level</a:t>
            </a:r>
          </a:p>
          <a:p>
            <a:pPr lvl="4"/>
            <a:r>
              <a:rPr lang="en-US">
                <a:solidFill>
                  <a:srgbClr val="222832"/>
                </a:solidFill>
              </a:rPr>
              <a:t>Fifth level</a:t>
            </a:r>
          </a:p>
        </p:txBody>
      </p:sp>
      <p:sp>
        <p:nvSpPr>
          <p:cNvPr id="4" name="Date Placeholder 3"/>
          <p:cNvSpPr>
            <a:spLocks noGrp="1"/>
          </p:cNvSpPr>
          <p:nvPr>
            <p:ph type="dt" sz="half" idx="10"/>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241EB5C9-1307-BA42-ABA2-0BC069CD8E7F}" type="datetimeFigureOut">
              <a:rPr lang="en-US" smtClean="0">
                <a:solidFill>
                  <a:srgbClr val="222832"/>
                </a:solidFill>
              </a:rPr>
              <a:t>1/2/22</a:t>
            </a:fld>
            <a:endParaRPr lang="en-US"/>
          </a:p>
        </p:txBody>
      </p:sp>
      <p:sp>
        <p:nvSpPr>
          <p:cNvPr id="5" name="Footer Placeholder 4"/>
          <p:cNvSpPr>
            <a:spLocks noGrp="1"/>
          </p:cNvSpPr>
          <p:nvPr>
            <p:ph type="ftr" sz="quarter" idx="11"/>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endParaRPr lang="en-US"/>
          </a:p>
        </p:txBody>
      </p:sp>
      <p:sp>
        <p:nvSpPr>
          <p:cNvPr id="6" name="Slide Number Placeholder 5"/>
          <p:cNvSpPr>
            <a:spLocks noGrp="1"/>
          </p:cNvSpPr>
          <p:nvPr>
            <p:ph type="sldNum" sz="quarter" idx="12"/>
          </p:nvPr>
        </p:nvSpPr>
        <p:spPr/>
        <p:txBody>
          <a:bodyPr/>
          <a:lstStyle>
            <a:lvl1pPr>
              <a:defRPr sz="1600">
                <a:solidFill>
                  <a:srgbClr val="222832"/>
                </a:solidFill>
              </a:defRPr>
            </a:lvl1pPr>
            <a:lvl2pPr>
              <a:defRPr sz="1600">
                <a:solidFill>
                  <a:srgbClr val="222832"/>
                </a:solidFill>
              </a:defRPr>
            </a:lvl2pPr>
            <a:lvl3pPr>
              <a:defRPr sz="1600">
                <a:solidFill>
                  <a:srgbClr val="222832"/>
                </a:solidFill>
              </a:defRPr>
            </a:lvl3pPr>
            <a:lvl4pPr>
              <a:defRPr sz="1600">
                <a:solidFill>
                  <a:srgbClr val="222832"/>
                </a:solidFill>
              </a:defRPr>
            </a:lvl4pPr>
            <a:lvl5pPr>
              <a:defRPr sz="1600">
                <a:solidFill>
                  <a:srgbClr val="222832"/>
                </a:solidFill>
              </a:defRPr>
            </a:lvl5pPr>
            <a:lvl6pPr>
              <a:defRPr sz="1600">
                <a:solidFill>
                  <a:srgbClr val="222832"/>
                </a:solidFill>
              </a:defRPr>
            </a:lvl6pPr>
            <a:lvl7pPr>
              <a:defRPr sz="1600">
                <a:solidFill>
                  <a:srgbClr val="222832"/>
                </a:solidFill>
              </a:defRPr>
            </a:lvl7pPr>
            <a:lvl8pPr>
              <a:defRPr sz="1600">
                <a:solidFill>
                  <a:srgbClr val="222832"/>
                </a:solidFill>
              </a:defRPr>
            </a:lvl8pPr>
            <a:lvl9pPr>
              <a:defRPr sz="1600">
                <a:solidFill>
                  <a:srgbClr val="222832"/>
                </a:solidFill>
              </a:defRPr>
            </a:lvl9pPr>
          </a:lstStyle>
          <a:p>
            <a:fld id="{C5EF2332-01BF-834F-8236-50238282D533}" type="slidenum">
              <a:rPr lang="en-US" smtClean="0">
                <a:solidFill>
                  <a:srgbClr val="222832"/>
                </a:solidFill>
              </a:rPr>
              <a:t>‹#›</a:t>
            </a:fld>
            <a:endParaRPr lang="en-US"/>
          </a:p>
        </p:txBody>
      </p:sp>
      <p:sp>
        <p:nvSpPr>
          <p:cNvPr id="100" name="OrangeRule"/>
          <p:cNvSpPr>
            <a:spLocks noGrp="1"/>
          </p:cNvSpPr>
          <p:nvPr/>
        </p:nvSpPr>
        <p:spPr>
          <a:xfrm>
            <a:off x="6629400" y="4670823"/>
            <a:ext cx="2057400" cy="38100"/>
          </a:xfrm>
          <a:prstGeom prst="rect">
            <a:avLst/>
          </a:prstGeom>
          <a:solidFill>
            <a:srgbClr val="FF9100"/>
          </a:solidFill>
          <a:ln>
            <a:noFill/>
          </a:ln>
        </p:spPr>
        <p:txBody>
          <a:bodyPr/>
          <a:lstStyle/>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theme/theme1.xml" Type="http://schemas.openxmlformats.org/officeDocument/2006/relationships/them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 Id="rId3"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hyperlink" Target="https://ucospo.net/education" TargetMode="External" /><Relationship Id="rId4"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hyperlink" Target="https://ucospo.net/oss-resources/template-guides/readme-guide/" TargetMode="External" /><Relationship Id="rId4" Type="http://schemas.openxmlformats.org/officeDocument/2006/relationships/hyperlink" Target="https://ucospo.net/oss-resources/template-guides/license-guide/" TargetMode="External" /><Relationship Id="rId5" Type="http://schemas.openxmlformats.org/officeDocument/2006/relationships/hyperlink" Target="https://ucospo.net/oss-resources/template-guides/contributing-guide/" TargetMode="External" /><Relationship Id="rId6" Type="http://schemas.openxmlformats.org/officeDocument/2006/relationships/hyperlink" Target="https://ucospo.net/oss-resources/template-guides/code-of-conduct-guide/" TargetMode="External" /><Relationship Id="rId7" Type="http://schemas.openxmlformats.org/officeDocument/2006/relationships/hyperlink" Target="https://ucospo.net/oss-resources/growing-community/" TargetMode="External" /><Relationship Id="rId8" Type="http://schemas.openxmlformats.org/officeDocument/2006/relationships/hyperlink" Target="https://ucospo.net/research-software-citable-discoverable/"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3" Type="http://schemas.openxmlformats.org/officeDocument/2006/relationships/hyperlink" Target="https://ucospo.net" TargetMode="External" /><Relationship Id="rId4" Type="http://schemas.openxmlformats.org/officeDocument/2006/relationships/hyperlink" Target="https://ucospo.net/education" TargetMode="External" /><Relationship Id="rId5" Type="http://schemas.openxmlformats.org/officeDocument/2006/relationships/hyperlink" Target="https://curioss.org"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38/s41597-022-01710-x" TargetMode="External" /><Relationship Id="rId3" Type="http://schemas.openxmlformats.org/officeDocument/2006/relationships/hyperlink" Target="https://doi.org/10.21105/joss.00027" TargetMode="External" /><Relationship Id="rId4" Type="http://schemas.openxmlformats.org/officeDocument/2006/relationships/hyperlink" Target="https://doi.org/10.1109/TCOM.1974.1092259" TargetMode="External" /><Relationship Id="rId5" Type="http://schemas.openxmlformats.org/officeDocument/2006/relationships/hyperlink" Target="https://doi.org/10.1016/j.jneumeth.2003.10.009" TargetMode="External" /><Relationship Id="rId6" Type="http://schemas.openxmlformats.org/officeDocument/2006/relationships/hyperlink" Target="https://doi.org/10.1371/journal.pcbi.1005659" TargetMode="External" /><Relationship Id="rId7" Type="http://schemas.openxmlformats.org/officeDocument/2006/relationships/hyperlink" Target="https://arxiv.org/abs/2506.18359" TargetMode="External" /><Relationship Id="rId8" Type="http://schemas.openxmlformats.org/officeDocument/2006/relationships/hyperlink" Target="https://doi.org/10.5281/zenodo.14809" TargetMode="External" /><Relationship Id="rId9" Type="http://schemas.openxmlformats.org/officeDocument/2006/relationships/hyperlink" Target="https://doi.org/10.2139/ssrn.4693148" TargetMode="External" /><Relationship Id="rId10" Type="http://schemas.openxmlformats.org/officeDocument/2006/relationships/hyperlink" Target="https://doi.org/10.1101/gr.229102" TargetMode="External" /><Relationship Id="rId11" Type="http://schemas.openxmlformats.org/officeDocument/2006/relationships/hyperlink" Target="https://doi.org/10.3233/978-1-61499-649-1-87" TargetMode="External" /><Relationship Id="rId12" Type="http://schemas.openxmlformats.org/officeDocument/2006/relationships/hyperlink" Target="https://www.iana.org/time-zones" TargetMode="External" /><Relationship Id="rId13" Type="http://schemas.openxmlformats.org/officeDocument/2006/relationships/hyperlink" Target="https://youtu.be/eBriL3CDNeo" TargetMode="External" /><Relationship Id="rId14" Type="http://schemas.openxmlformats.org/officeDocument/2006/relationships/hyperlink" Target="https://doi.org/10.31235/osf.io/p8bx6_v1" TargetMode="External" /><Relationship Id="rId15" Type="http://schemas.openxmlformats.org/officeDocument/2006/relationships/hyperlink" Target="https://doi.org/10.1101/gr.1239303" TargetMode="External" /><Relationship Id="rId16" Type="http://schemas.openxmlformats.org/officeDocument/2006/relationships/hyperlink" Target="https://doi.org/10.1145/320473.320476" TargetMode="External" /><Relationship Id="rId17" Type="http://schemas.openxmlformats.org/officeDocument/2006/relationships/hyperlink" Target="https://dev.to/tidelift/the-open-source-maintainer-community-is-getting-grayer-1gc2" TargetMode="External" /><Relationship Id="rId18" Type="http://schemas.openxmlformats.org/officeDocument/2006/relationships/hyperlink" Target="https://github.com/riscv/riscv-isa-manual" TargetMode="External" /><Relationship Id="rId19" Type="http://schemas.openxmlformats.org/officeDocument/2006/relationships/hyperlink" Target="https://doi.org/10.1145/2656877.2656887"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Open Source as Institutional Infrastructure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Lessons from the UC OSPO Network</a:t>
            </a:r>
            <a:br/>
            <a:br/>
            <a:r>
              <a:rPr/>
              <a:t>Tim Dennis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invisible layer</a:t>
            </a:r>
          </a:p>
        </p:txBody>
      </p:sp>
      <p:sp>
        <p:nvSpPr>
          <p:cNvPr id="3" name="Content Placeholder 2"/>
          <p:cNvSpPr>
            <a:spLocks noGrp="1"/>
          </p:cNvSpPr>
          <p:nvPr>
            <p:ph idx="1" sz="half"/>
          </p:nvPr>
        </p:nvSpPr>
        <p:spPr/>
        <p:txBody>
          <a:bodyPr/>
          <a:lstStyle/>
          <a:p>
            <a:pPr lvl="0" indent="0" marL="0">
              <a:buNone/>
            </a:pPr>
            <a:r>
              <a:rPr/>
              <a:t>Research data workflows run on open source:</a:t>
            </a:r>
          </a:p>
          <a:p>
            <a:pPr lvl="0"/>
            <a:r>
              <a:rPr/>
              <a:t>Data collection, cleaning, analysis, visualization</a:t>
            </a:r>
          </a:p>
          <a:p>
            <a:pPr lvl="0"/>
            <a:r>
              <a:rPr/>
              <a:t>Reproducibility tooling: containers, workflows, version control</a:t>
            </a:r>
          </a:p>
          <a:p>
            <a:pPr lvl="0"/>
            <a:r>
              <a:rPr/>
              <a:t>Repositories and scholarly infrastructure</a:t>
            </a:r>
          </a:p>
          <a:p>
            <a:pPr lvl="0" indent="0" marL="0">
              <a:buNone/>
            </a:pPr>
            <a:r>
              <a:rPr b="1"/>
              <a:t>92%</a:t>
            </a:r>
            <a:r>
              <a:rPr/>
              <a:t> of researchers use software; </a:t>
            </a:r>
            <a:r>
              <a:rPr b="1"/>
              <a:t>67%</a:t>
            </a:r>
            <a:r>
              <a:rPr/>
              <a:t> say their research would be impossible without it.</a:t>
            </a:r>
          </a:p>
          <a:p>
            <a:pPr lvl="0" indent="0" marL="0">
              <a:buNone/>
            </a:pPr>
            <a:r>
              <a:rPr/>
              <a:t>The people keeping it running are increasingly called </a:t>
            </a:r>
            <a:r>
              <a:rPr b="1"/>
              <a:t>Research Software Engineers (RSEs)</a:t>
            </a:r>
            <a:r>
              <a:rPr/>
              <a:t>, a growing professional community with no standard institutional home.</a:t>
            </a:r>
          </a:p>
          <a:p>
            <a:pPr lvl="0" indent="0" marL="0">
              <a:buNone/>
            </a:pPr>
            <a:r>
              <a:rPr/>
              <a:t>If every organization had to replace open source with proprietary equivalents, the cost would exceed </a:t>
            </a:r>
            <a:r>
              <a:rPr b="1"/>
              <a:t>$8.8 trillion</a:t>
            </a:r>
            <a:r>
              <a:rPr/>
              <a:t>.</a:t>
            </a:r>
          </a:p>
          <a:p>
            <a:pPr lvl="0" indent="0" marL="0">
              <a:buNone/>
            </a:pPr>
            <a:r>
              <a:rPr/>
              <a:t>Hettrick et al. (SSI, 2014/2022) · Hoffmann, Nagle &amp; Zhou (2024) doi:10.2139/ssrn.4693148</a:t>
            </a:r>
          </a:p>
        </p:txBody>
      </p:sp>
      <p:sp>
        <p:nvSpPr>
          <p:cNvPr id="4" name="Content Placeholder 3"/>
          <p:cNvSpPr>
            <a:spLocks noGrp="1"/>
          </p:cNvSpPr>
          <p:nvPr>
            <p:ph idx="2" sz="half"/>
          </p:nvPr>
        </p:nvSpPr>
        <p:spPr/>
        <p:txBody>
          <a:bodyPr/>
          <a:lstStyle/>
          <a:p>
            <a:pPr lvl="0" indent="0" marL="0">
              <a:buNone/>
            </a:pPr>
            <a:r>
              <a:rPr/>
              <a:t>Jupyter</a:t>
            </a:r>
          </a:p>
          <a:p>
            <a:pPr lvl="0" indent="0" marL="0">
              <a:buNone/>
            </a:pPr>
            <a:r>
              <a:rPr/>
              <a:t>Python</a:t>
            </a:r>
          </a:p>
          <a:p>
            <a:pPr lvl="0" indent="0" marL="0">
              <a:buNone/>
            </a:pPr>
            <a:r>
              <a:rPr/>
              <a:t>R</a:t>
            </a:r>
          </a:p>
          <a:p>
            <a:pPr lvl="0" indent="0" marL="0">
              <a:buNone/>
            </a:pPr>
            <a:r>
              <a:rPr/>
              <a:t>Git</a:t>
            </a:r>
          </a:p>
          <a:p>
            <a:pPr lvl="0" indent="0" marL="0">
              <a:buNone/>
            </a:pPr>
            <a:r>
              <a:rPr/>
              <a:t>Spark</a:t>
            </a:r>
          </a:p>
          <a:p>
            <a:pPr lvl="0" indent="0" marL="0">
              <a:buNone/>
            </a:pPr>
            <a:r>
              <a:rPr/>
              <a:t>Pandas</a:t>
            </a:r>
          </a:p>
          <a:p>
            <a:pPr lvl="0" indent="0" marL="0">
              <a:buNone/>
            </a:pPr>
            <a:r>
              <a:rPr/>
              <a:t>NumPy</a:t>
            </a:r>
          </a:p>
          <a:p>
            <a:pPr lvl="0" indent="0" marL="0">
              <a:buNone/>
            </a:pPr>
            <a:r>
              <a:rPr/>
              <a:t>Docker</a:t>
            </a:r>
          </a:p>
          <a:p>
            <a:pPr lvl="0" indent="0" marL="0">
              <a:buNone/>
            </a:pPr>
            <a:r>
              <a:rPr/>
              <a:t>Ray</a:t>
            </a:r>
          </a:p>
          <a:p>
            <a:pPr lvl="0" indent="0" marL="0">
              <a:buNone/>
            </a:pPr>
            <a:r>
              <a:rPr/>
              <a:t>ggplot2</a:t>
            </a:r>
          </a:p>
          <a:p>
            <a:pPr lvl="0" indent="0" marL="0">
              <a:buNone/>
            </a:pPr>
            <a:r>
              <a:rPr/>
              <a:t>dplyr</a:t>
            </a:r>
          </a:p>
          <a:p>
            <a:pPr lvl="0" indent="0" marL="0">
              <a:buNone/>
            </a:pPr>
            <a:r>
              <a:rPr/>
              <a:t>Snakemake</a:t>
            </a:r>
          </a:p>
          <a:p>
            <a:pPr lvl="0" indent="0" marL="0">
              <a:buNone/>
            </a:pPr>
            <a:r>
              <a:rPr/>
              <a:t>Nextflow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We’ve been here before</a:t>
            </a:r>
          </a:p>
        </p:txBody>
      </p:sp>
      <p:sp>
        <p:nvSpPr>
          <p:cNvPr id="3" name="Content Placeholder 2"/>
          <p:cNvSpPr>
            <a:spLocks noGrp="1"/>
          </p:cNvSpPr>
          <p:nvPr>
            <p:ph idx="1"/>
          </p:nvPr>
        </p:nvSpPr>
        <p:spPr/>
        <p:txBody>
          <a:bodyPr/>
          <a:lstStyle/>
          <a:p>
            <a:pPr lvl="0" indent="0" marL="0">
              <a:buNone/>
            </a:pPr>
            <a:r>
              <a:rPr/>
              <a:t>People in this room helped build the open data movement:</a:t>
            </a:r>
          </a:p>
          <a:p>
            <a:pPr lvl="0"/>
            <a:r>
              <a:rPr/>
              <a:t>FAIR principles: from aspiration to institutional expectation</a:t>
            </a:r>
          </a:p>
          <a:p>
            <a:pPr lvl="0"/>
            <a:r>
              <a:rPr/>
              <a:t>Data management plans embedded in grant workflows</a:t>
            </a:r>
          </a:p>
          <a:p>
            <a:pPr lvl="0"/>
            <a:r>
              <a:rPr/>
              <a:t>Curation, provenance, and stewardship as professional services</a:t>
            </a:r>
          </a:p>
          <a:p>
            <a:pPr lvl="0"/>
            <a:r>
              <a:rPr/>
              <a:t>Open science infrastructure: repositories, PIDs, metadata standards</a:t>
            </a:r>
          </a:p>
          <a:p>
            <a:pPr lvl="0"/>
            <a:r>
              <a:rPr b="1"/>
              <a:t>FAIR4RS</a:t>
            </a:r>
            <a:r>
              <a:rPr/>
              <a:t>: FAIR principles now extended to research software</a:t>
            </a:r>
          </a:p>
          <a:p>
            <a:pPr lvl="0" indent="0" marL="0">
              <a:buNone/>
            </a:pPr>
            <a:r>
              <a:rPr b="1"/>
              <a:t>Software is the next frontier</a:t>
            </a:r>
            <a:r>
              <a:rPr/>
              <a:t>, and UC has been showing the way for 50 years: BSD Unix, Ceph, Apache Spark, RISC-V, Ray. The pipeline from university research to global infrastructure is not rare or accidental.</a:t>
            </a:r>
          </a:p>
          <a:p>
            <a:pPr lvl="0" indent="0" marL="1270000">
              <a:buNone/>
            </a:pPr>
            <a:r>
              <a:rPr sz="2000"/>
              <a:t>“The research done in academia was the seed. Foundations provided the soil. But the community was the sun.”</a:t>
            </a:r>
          </a:p>
          <a:p>
            <a:pPr lvl="0" indent="0" marL="0">
              <a:buNone/>
            </a:pPr>
            <a:r>
              <a:rPr/>
              <a:t>Barker et al. (2022) doi:10.1038/s41597-022-01710-x · Ruff, N. (2026) “The Role of Foundations in Advancing Open Collaboration and Innovation,” UC Open Summit. youtu.be/eBriL3CDNeo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UC research-to-infrastructure pipeline</a:t>
            </a:r>
          </a:p>
        </p:txBody>
      </p:sp>
      <p:sp>
        <p:nvSpPr>
          <p:cNvPr id="3" name="Content Placeholder 2"/>
          <p:cNvSpPr>
            <a:spLocks noGrp="1"/>
          </p:cNvSpPr>
          <p:nvPr>
            <p:ph idx="1"/>
          </p:nvPr>
        </p:nvSpPr>
        <p:spPr/>
        <p:txBody>
          <a:bodyPr/>
          <a:lstStyle/>
          <a:p>
            <a:pPr lvl="0" indent="0" marL="0">
              <a:buNone/>
            </a:pPr>
            <a:r>
              <a:rPr/>
              <a:t>UC Berkeley</a:t>
            </a:r>
          </a:p>
          <a:p>
            <a:pPr lvl="0" indent="0" marL="0">
              <a:buNone/>
            </a:pPr>
            <a:r>
              <a:rPr/>
              <a:t>Jupyter</a:t>
            </a:r>
          </a:p>
          <a:p>
            <a:pPr lvl="0" indent="0" marL="0">
              <a:buNone/>
            </a:pPr>
            <a:r>
              <a:rPr/>
              <a:t>Apache Spark</a:t>
            </a:r>
          </a:p>
          <a:p>
            <a:pPr lvl="0" indent="0" marL="0">
              <a:buNone/>
            </a:pPr>
            <a:r>
              <a:rPr/>
              <a:t>RISC-V</a:t>
            </a:r>
          </a:p>
          <a:p>
            <a:pPr lvl="0" indent="0" marL="0">
              <a:buNone/>
            </a:pPr>
            <a:r>
              <a:rPr/>
              <a:t>Ray</a:t>
            </a:r>
          </a:p>
          <a:p>
            <a:pPr lvl="0" indent="0" marL="0">
              <a:buNone/>
            </a:pPr>
            <a:r>
              <a:rPr/>
              <a:t>BSD Unix</a:t>
            </a:r>
          </a:p>
          <a:p>
            <a:pPr lvl="0" indent="0" marL="0">
              <a:buNone/>
            </a:pPr>
            <a:r>
              <a:rPr/>
              <a:t>UC Santa Cruz</a:t>
            </a:r>
          </a:p>
          <a:p>
            <a:pPr lvl="0" indent="0" marL="0">
              <a:buNone/>
            </a:pPr>
            <a:r>
              <a:rPr/>
              <a:t>Ceph</a:t>
            </a:r>
          </a:p>
          <a:p>
            <a:pPr lvl="0" indent="0" marL="0">
              <a:buNone/>
            </a:pPr>
            <a:r>
              <a:rPr/>
              <a:t>UCSC Genome Browser</a:t>
            </a:r>
          </a:p>
          <a:p>
            <a:pPr lvl="0" indent="0" marL="0">
              <a:buNone/>
            </a:pPr>
            <a:r>
              <a:rPr/>
              <a:t>UC San Diego</a:t>
            </a:r>
          </a:p>
          <a:p>
            <a:pPr lvl="0" indent="0" marL="0">
              <a:buNone/>
            </a:pPr>
            <a:r>
              <a:rPr/>
              <a:t>Cytoscape EEGLAB</a:t>
            </a:r>
          </a:p>
          <a:p>
            <a:pPr lvl="0" indent="0" marL="0">
              <a:buNone/>
            </a:pPr>
            <a:r>
              <a:rPr/>
              <a:t>UCSD Pascal</a:t>
            </a:r>
          </a:p>
          <a:p>
            <a:pPr lvl="0" indent="0" marL="0">
              <a:buNone/>
            </a:pPr>
            <a:r>
              <a:rPr/>
              <a:t>UCLA</a:t>
            </a:r>
          </a:p>
          <a:p>
            <a:pPr lvl="0" indent="0" marL="0">
              <a:buNone/>
            </a:pPr>
            <a:r>
              <a:rPr/>
              <a:t>Processing</a:t>
            </a:r>
          </a:p>
          <a:p>
            <a:pPr lvl="0" indent="0" marL="0">
              <a:buNone/>
            </a:pPr>
            <a:r>
              <a:rPr/>
              <a:t>Named Data Networking</a:t>
            </a:r>
          </a:p>
          <a:p>
            <a:pPr lvl="0" indent="0" marL="0">
              <a:buNone/>
            </a:pPr>
            <a:r>
              <a:rPr/>
              <a:t>tz database</a:t>
            </a:r>
          </a:p>
          <a:p>
            <a:pPr lvl="0" indent="0" marL="0">
              <a:buNone/>
            </a:pPr>
            <a:r>
              <a:rPr/>
              <a:t>UC San Francisco</a:t>
            </a:r>
          </a:p>
          <a:p>
            <a:pPr lvl="0" indent="0" marL="0">
              <a:buNone/>
            </a:pPr>
            <a:r>
              <a:rPr/>
              <a:t>ChimeraX</a:t>
            </a:r>
          </a:p>
          <a:p>
            <a:pPr lvl="0" indent="0" marL="0">
              <a:buNone/>
            </a:pPr>
            <a:r>
              <a:rPr/>
              <a:t>OpenMM</a:t>
            </a:r>
          </a:p>
          <a:p>
            <a:pPr lvl="0" indent="0" marL="0">
              <a:buNone/>
            </a:pPr>
            <a:r>
              <a:rPr/>
              <a:t>UC Davis</a:t>
            </a:r>
          </a:p>
          <a:p>
            <a:pPr lvl="0" indent="0" marL="0">
              <a:buNone/>
            </a:pPr>
            <a:r>
              <a:rPr/>
              <a:t>sourmash</a:t>
            </a:r>
          </a:p>
          <a:p>
            <a:pPr lvl="0" indent="0" marL="0">
              <a:buNone/>
            </a:pPr>
            <a:r>
              <a:rPr/>
              <a:t>ERPLAB</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Summer 2000. UC Santa Cruz.</a:t>
            </a:r>
          </a:p>
          <a:p>
            <a:pPr lvl="0" indent="0" marL="0">
              <a:buNone/>
            </a:pPr>
            <a:r>
              <a:rPr/>
              <a:t>PhD student Jim Kent assembled the human genome on 50 borrowed PCs, icing his wrists to keep coding.</a:t>
            </a:r>
          </a:p>
          <a:p>
            <a:pPr lvl="0" indent="0" marL="0">
              <a:buNone/>
            </a:pPr>
            <a:r>
              <a:rPr/>
              <a:t>He finished </a:t>
            </a:r>
            <a:r>
              <a:rPr b="1"/>
              <a:t>three days</a:t>
            </a:r>
            <a:r>
              <a:rPr/>
              <a:t> before a corporate competitor’s supercomputer.</a:t>
            </a:r>
          </a:p>
          <a:p>
            <a:pPr lvl="0" indent="0" marL="0">
              <a:buNone/>
            </a:pPr>
            <a:r>
              <a:rPr b="1"/>
              <a:t>The genome stayed in the public domain.</a:t>
            </a:r>
          </a:p>
          <a:p>
            <a:pPr lvl="0" indent="0" marL="0">
              <a:buNone/>
            </a:pPr>
            <a:r>
              <a:rPr/>
              <a:t>Kent, J.W. (2002). BLAT - The BLAST-Like Alignment Tool. </a:t>
            </a:r>
            <a:r>
              <a:rPr i="1"/>
              <a:t>Genome Research</a:t>
            </a:r>
            <a:r>
              <a:rPr/>
              <a:t> 12, 656–664. · genome.ucsc.edu</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an academic OSPO?</a:t>
            </a:r>
          </a:p>
        </p:txBody>
      </p:sp>
      <p:sp>
        <p:nvSpPr>
          <p:cNvPr id="3" name="Content Placeholder 2"/>
          <p:cNvSpPr>
            <a:spLocks noGrp="1"/>
          </p:cNvSpPr>
          <p:nvPr>
            <p:ph idx="1" sz="half"/>
          </p:nvPr>
        </p:nvSpPr>
        <p:spPr/>
        <p:txBody>
          <a:bodyPr/>
          <a:lstStyle/>
          <a:p>
            <a:pPr lvl="0" indent="0" marL="0">
              <a:buNone/>
            </a:pPr>
            <a:r>
              <a:rPr/>
              <a:t>An </a:t>
            </a:r>
            <a:r>
              <a:rPr b="1"/>
              <a:t>Open Source Program Office</a:t>
            </a:r>
            <a:r>
              <a:rPr/>
              <a:t> supports, governs, and promotes open source within an institution.</a:t>
            </a:r>
          </a:p>
          <a:p>
            <a:pPr lvl="0"/>
            <a:r>
              <a:rPr/>
              <a:t>Originated in industry: ~77% of large tech companies have one</a:t>
            </a:r>
          </a:p>
          <a:p>
            <a:pPr lvl="0"/>
            <a:r>
              <a:rPr/>
              <a:t>First academic OSPOs: Johns Hopkins, UC Santa Cruz, and RIT (2021)</a:t>
            </a:r>
          </a:p>
          <a:p>
            <a:pPr lvl="0"/>
            <a:r>
              <a:rPr b="1"/>
              <a:t>34 academic OSPOs</a:t>
            </a:r>
            <a:r>
              <a:rPr/>
              <a:t> in CURIOSS worldwide and growing</a:t>
            </a:r>
          </a:p>
          <a:p>
            <a:pPr lvl="0"/>
            <a:r>
              <a:rPr/>
              <a:t>Core functions: policy, licensing guidance, best practices, education, community</a:t>
            </a:r>
          </a:p>
        </p:txBody>
      </p:sp>
      <p:sp>
        <p:nvSpPr>
          <p:cNvPr id="4" name="Content Placeholder 3"/>
          <p:cNvSpPr>
            <a:spLocks noGrp="1"/>
          </p:cNvSpPr>
          <p:nvPr>
            <p:ph idx="2" sz="half"/>
          </p:nvPr>
        </p:nvSpPr>
        <p:spPr/>
        <p:txBody>
          <a:bodyPr/>
          <a:lstStyle/>
          <a:p>
            <a:pPr lvl="0" indent="0">
              <a:buNone/>
            </a:pPr>
            <a:r>
              <a:rPr>
                <a:latin typeface="Courier"/>
              </a:rPr>
              <a:t>//| echo: false
//| output: false
world_topo = fetch("https://cdn.jsdelivr.net/npm/world-atlas@2/countries-110m.json").then(r =&gt; r.json())
members = FileAttachment("curioss-members.csv").csv({typed: true})</a:t>
            </a:r>
          </a:p>
          <a:p>
            <a:pPr lvl="0" indent="0">
              <a:buNone/>
            </a:pPr>
            <a:r>
              <a:rPr>
                <a:latin typeface="Courier"/>
              </a:rPr>
              <a:t>//| echo: false
Plot.plot({
  projection: {
    type: "equal-earth",
    domain: {
      type: "MultiPoint",
      coordinates: members.map(d =&gt; [+d.lon, +d.lat])
    },
    inset: 40
  },
  width: 660,
  height: 340,
  style: {background: "transparent"},
  marks: [
    Plot.graticule({stroke: "#e8eef8", strokeWidth: 0.5}),
    Plot.geo(topojson.feature(world_topo, world_topo.objects.land), {
      fill: "#e8eef8", stroke: "#ccc", strokeWidth: 0.5
    }),
    Plot.dot(members, {
      x: d =&gt; +d.lon,
      y: d =&gt; +d.lat,
      r: 7,
      fill: d =&gt; d.uc_network === "yes" ? "#ff9100" : "#003cb3",
      stroke: "white",
      strokeWidth: 1.2,
      tip: true,
      title: d =&gt; d.name
    })
  ]
})</a:t>
            </a:r>
          </a:p>
          <a:p>
            <a:pPr lvl="0" indent="0" marL="0">
              <a:buNone/>
            </a:pPr>
            <a:r>
              <a:rPr/>
              <a:t>🟠 UC OSPO Network  ·  🔵 CURIOSS member</a:t>
            </a:r>
          </a:p>
          <a:p>
            <a:pPr lvl="0" indent="0" marL="0">
              <a:buNone/>
            </a:pPr>
            <a:r>
              <a:rPr/>
              <a:t>World map showing 34 CURIOSS member institutions. Six UC campuses (orange) in California: Santa Cruz, Berkeley, Davis, Los Angeles, Santa Barbara, and San Diego. Twenty-eight additional institutions (blue) across the US, UK, Switzerland, Spain, Ireland, Luxembourg, and France.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UC OSPO Network</a:t>
            </a:r>
          </a:p>
        </p:txBody>
      </p:sp>
      <p:sp>
        <p:nvSpPr>
          <p:cNvPr id="3" name="Content Placeholder 2"/>
          <p:cNvSpPr>
            <a:spLocks noGrp="1"/>
          </p:cNvSpPr>
          <p:nvPr>
            <p:ph idx="1" sz="half"/>
          </p:nvPr>
        </p:nvSpPr>
        <p:spPr/>
        <p:txBody>
          <a:bodyPr/>
          <a:lstStyle/>
          <a:p>
            <a:pPr lvl="0" indent="0" marL="0">
              <a:buNone/>
            </a:pPr>
            <a:r>
              <a:rPr/>
              <a:t>A </a:t>
            </a:r>
            <a:r>
              <a:rPr b="1"/>
              <a:t>multi-campus collaboration</a:t>
            </a:r>
            <a:r>
              <a:rPr/>
              <a:t> treating open source as shared infrastructure.</a:t>
            </a:r>
          </a:p>
          <a:p>
            <a:pPr lvl="0"/>
            <a:r>
              <a:rPr/>
              <a:t>6 campuses: Santa Cruz, Berkeley, Davis, Los Angeles, Santa Barbara, San Diego</a:t>
            </a:r>
          </a:p>
          <a:p>
            <a:pPr lvl="0"/>
            <a:r>
              <a:rPr/>
              <a:t>Launched April 2024, funded by the Alfred P. Sloan Foundation</a:t>
            </a:r>
          </a:p>
          <a:p>
            <a:pPr lvl="0"/>
            <a:r>
              <a:rPr b="1"/>
              <a:t>$1.85M</a:t>
            </a:r>
            <a:r>
              <a:rPr/>
              <a:t> in external funding to date</a:t>
            </a:r>
          </a:p>
          <a:p>
            <a:pPr lvl="0"/>
            <a:r>
              <a:rPr/>
              <a:t>Lead: UC Santa Cruz, the first OSPO in a large state university system</a:t>
            </a:r>
          </a:p>
          <a:p>
            <a:pPr lvl="0"/>
            <a:r>
              <a:rPr/>
              <a:t>Serves 280,000+ students and 25,000+ faculty</a:t>
            </a:r>
          </a:p>
          <a:p>
            <a:pPr lvl="0" indent="0" marL="0">
              <a:buNone/>
            </a:pPr>
            <a:r>
              <a:rPr/>
              <a:t>Acts as a </a:t>
            </a:r>
            <a:r>
              <a:rPr b="1"/>
              <a:t>neutral convener</a:t>
            </a:r>
            <a:r>
              <a:rPr/>
              <a:t>: no single campus, company, or grant cycle can pull the work away.</a:t>
            </a:r>
          </a:p>
          <a:p>
            <a:pPr lvl="0" indent="0" marL="0">
              <a:buNone/>
            </a:pPr>
            <a:r>
              <a:rPr/>
              <a:t>Ruff (2026) UC Open Summit · youtu.be/eBriL3CDNeo</a:t>
            </a:r>
          </a:p>
        </p:txBody>
      </p:sp>
      <p:sp>
        <p:nvSpPr>
          <p:cNvPr id="4" name="Content Placeholder 3"/>
          <p:cNvSpPr>
            <a:spLocks noGrp="1"/>
          </p:cNvSpPr>
          <p:nvPr>
            <p:ph idx="2" sz="half"/>
          </p:nvPr>
        </p:nvSpPr>
        <p:spPr/>
        <p:txBody>
          <a:bodyPr/>
          <a:lstStyle/>
          <a:p>
            <a:pPr lvl="0" indent="0">
              <a:buNone/>
            </a:pPr>
            <a:r>
              <a:rPr>
                <a:latin typeface="Courier"/>
              </a:rPr>
              <a:t>//| echo: false
//| output: false
ca_states = fetch("https://cdn.jsdelivr.net/npm/us-atlas@3/states-10m.json").then(r =&gt; r.json())
uc_network_campuses = [
  {name: "UC Santa Cruz", short: "UCSC", lon: -122.0583, lat: 36.9741},
  {name: "UC Berkeley", short: "UCB", lon: -122.2595, lat: 37.8724},
  {name: "UC Davis", short: "UCD", lon: -121.7619, lat: 38.5382},
  {name: "UC Los Angeles", short: "UCLA", lon: -118.4452, lat: 34.0689},
  {name: "UC Santa Barbara", short: "UCSB", lon: -119.8489, lat: 34.4140},
  {name: "UC San Diego", short: "UCSD", lon: -117.2340, lat: 32.8801}
]</a:t>
            </a:r>
          </a:p>
          <a:p>
            <a:pPr lvl="0" indent="0">
              <a:buNone/>
            </a:pPr>
            <a:r>
              <a:rPr>
                <a:latin typeface="Courier"/>
              </a:rPr>
              <a:t>//| echo: false
Plot.plot({
  projection: {
    type: "mercator",
    domain: {type: "MultiPoint", coordinates: [[-124.5, 32.4], [-114, 42.1]]}
  },
  width: 500,
  height: 420,
  style: {background: "transparent"},
  marks: [
    Plot.geo(
      topojson.feature(ca_states, ca_states.objects.states).features.find(d =&gt; +d.id === 6),
      {fill: "#e8eef8", stroke: "#b0bbcc", strokeWidth: 0.8}
    ),
    Plot.dot(uc_network_campuses, {
      x: d =&gt; d.lon,
      y: d =&gt; d.lat,
      r: 10,
      fill: "#ff9100",
      stroke: "white",
      strokeWidth: 1.8,
      tip: true,
      title: d =&gt; d.name
    }),
    Plot.text(uc_network_campuses, {
      x: d =&gt; d.lon,
      y: d =&gt; d.lat,
      text: d =&gt; d.short,
      dy: -18,
      fontSize: 13,
      fontWeight: "bold",
      fill: "#1f335e",
      stroke: "white",
      strokeWidth: 3
    })
  ]
})</a:t>
            </a:r>
          </a:p>
          <a:p>
            <a:pPr lvl="0" indent="0" marL="0">
              <a:buNone/>
            </a:pPr>
            <a:r>
              <a:rPr/>
              <a:t>Map of California showing six UC OSPO Network campuses: Santa Cruz, Berkeley, Davis, Los Angeles, Santa Barbara, and San Diego.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thematic areas</a:t>
            </a:r>
          </a:p>
        </p:txBody>
      </p:sp>
      <p:sp>
        <p:nvSpPr>
          <p:cNvPr id="3" name="Content Placeholder 2"/>
          <p:cNvSpPr>
            <a:spLocks noGrp="1"/>
          </p:cNvSpPr>
          <p:nvPr>
            <p:ph idx="1" sz="half"/>
          </p:nvPr>
        </p:nvSpPr>
        <p:spPr/>
        <p:txBody>
          <a:bodyPr/>
          <a:lstStyle/>
          <a:p>
            <a:pPr lvl="0" indent="0" marL="0">
              <a:buNone/>
            </a:pPr>
            <a:r>
              <a:rPr/>
              <a:t>🔭</a:t>
            </a:r>
          </a:p>
          <a:p>
            <a:pPr lvl="0" indent="0" marL="0">
              <a:buNone/>
            </a:pPr>
            <a:r>
              <a:rPr b="1"/>
              <a:t>Discovery</a:t>
            </a:r>
          </a:p>
          <a:p>
            <a:pPr lvl="0" indent="0" marL="0">
              <a:buNone/>
            </a:pPr>
            <a:r>
              <a:rPr/>
              <a:t>Mapping who does what across the UC system: repos, contributors, tools, and practices</a:t>
            </a:r>
          </a:p>
        </p:txBody>
      </p:sp>
      <p:sp>
        <p:nvSpPr>
          <p:cNvPr id="4" name="Content Placeholder 3"/>
          <p:cNvSpPr>
            <a:spLocks noGrp="1"/>
          </p:cNvSpPr>
          <p:nvPr>
            <p:ph idx="2" sz="half"/>
          </p:nvPr>
        </p:nvSpPr>
        <p:spPr/>
        <p:txBody>
          <a:bodyPr/>
          <a:lstStyle/>
          <a:p>
            <a:pPr lvl="0" indent="0" marL="0">
              <a:buNone/>
            </a:pPr>
            <a:r>
              <a:rPr/>
              <a:t>🌱</a:t>
            </a:r>
          </a:p>
          <a:p>
            <a:pPr lvl="0" indent="0" marL="0">
              <a:buNone/>
            </a:pPr>
            <a:r>
              <a:rPr b="1"/>
              <a:t>Sustainability</a:t>
            </a:r>
          </a:p>
          <a:p>
            <a:pPr lvl="0" indent="0" marL="0">
              <a:buNone/>
            </a:pPr>
            <a:r>
              <a:rPr/>
              <a:t>Keeping projects and communities healthy through licensing, project health, and community support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Discovery: knowing what’s there</a:t>
            </a:r>
          </a:p>
        </p:txBody>
      </p:sp>
      <p:sp>
        <p:nvSpPr>
          <p:cNvPr id="3" name="Content Placeholder 2"/>
          <p:cNvSpPr>
            <a:spLocks noGrp="1"/>
          </p:cNvSpPr>
          <p:nvPr>
            <p:ph idx="1" sz="half"/>
          </p:nvPr>
        </p:nvSpPr>
        <p:spPr/>
        <p:txBody>
          <a:bodyPr/>
          <a:lstStyle/>
          <a:p>
            <a:pPr lvl="0" indent="0" marL="0">
              <a:buNone/>
            </a:pPr>
            <a:r>
              <a:rPr b="1"/>
              <a:t>The 4 Ps framework</a:t>
            </a:r>
            <a:r>
              <a:rPr/>
              <a:t>, applied at system scale:</a:t>
            </a:r>
          </a:p>
          <a:p>
            <a:pPr lvl="0"/>
            <a:r>
              <a:rPr b="1"/>
              <a:t>People</a:t>
            </a:r>
            <a:r>
              <a:rPr/>
              <a:t>: who contributes to OS software at UC?</a:t>
            </a:r>
          </a:p>
          <a:p>
            <a:pPr lvl="0"/>
            <a:r>
              <a:rPr b="1"/>
              <a:t>Product</a:t>
            </a:r>
            <a:r>
              <a:rPr/>
              <a:t>: what has been built?</a:t>
            </a:r>
          </a:p>
          <a:p>
            <a:pPr lvl="0"/>
            <a:r>
              <a:rPr b="1"/>
              <a:t>Practice</a:t>
            </a:r>
            <a:r>
              <a:rPr/>
              <a:t>: how do faculty and staff engage?</a:t>
            </a:r>
          </a:p>
          <a:p>
            <a:pPr lvl="0"/>
            <a:r>
              <a:rPr b="1"/>
              <a:t>Perception</a:t>
            </a:r>
            <a:r>
              <a:rPr/>
              <a:t>: what are contributors’ experiences?</a:t>
            </a:r>
          </a:p>
          <a:p>
            <a:pPr lvl="0" indent="0" marL="0">
              <a:buNone/>
            </a:pPr>
            <a:r>
              <a:rPr/>
              <a:t>Tools: GitHub pipeline (200,000+ repos scanned; ~52,000 institutionally affiliated across 10 campuses), network-wide survey (294 respondents), UC Open Repository Browser (UC ORB)</a:t>
            </a:r>
          </a:p>
          <a:p>
            <a:pPr lvl="0" indent="0" marL="0">
              <a:buNone/>
            </a:pPr>
            <a:r>
              <a:rPr/>
              <a:t>Gomez et al. (2025) arxiv:2506.18359 · Scarlett et al. (2025) doi:10.31235/osf.io/p8bx6_v1</a:t>
            </a:r>
          </a:p>
        </p:txBody>
      </p:sp>
      <p:pic>
        <p:nvPicPr>
          <p:cNvPr descr="images/ucospo-orb.png" id="0" name="Picture 1"/>
          <p:cNvPicPr>
            <a:picLocks noGrp="1" noChangeAspect="1"/>
          </p:cNvPicPr>
          <p:nvPr/>
        </p:nvPicPr>
        <p:blipFill>
          <a:blip r:embed="rId3"/>
          <a:stretch>
            <a:fillRect/>
          </a:stretch>
        </p:blipFill>
        <p:spPr bwMode="auto">
          <a:xfrm>
            <a:off x="4648200" y="1905000"/>
            <a:ext cx="4038600" cy="14605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UC Open Repository Browser showing filter controls, repository type breakdown, data table of UC campus repos, and a network visualization of project relationships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Sustainability: keeping it running</a:t>
            </a:r>
          </a:p>
        </p:txBody>
      </p:sp>
      <p:sp>
        <p:nvSpPr>
          <p:cNvPr id="3" name="Content Placeholder 2"/>
          <p:cNvSpPr>
            <a:spLocks noGrp="1"/>
          </p:cNvSpPr>
          <p:nvPr>
            <p:ph idx="1" sz="half"/>
          </p:nvPr>
        </p:nvSpPr>
        <p:spPr/>
        <p:txBody>
          <a:bodyPr/>
          <a:lstStyle/>
          <a:p>
            <a:pPr lvl="0" indent="0" marL="0">
              <a:buNone/>
            </a:pPr>
            <a:r>
              <a:rPr b="1"/>
              <a:t>58% of UC open source contributors are also maintainers.</a:t>
            </a:r>
            <a:r>
              <a:rPr/>
              <a:t> Not users: stewards.</a:t>
            </a:r>
          </a:p>
          <a:p>
            <a:pPr lvl="0" indent="0" marL="0">
              <a:buNone/>
            </a:pPr>
            <a:r>
              <a:rPr/>
              <a:t>What they asked for most: sustainability grants, computing infrastructure, learning communities.</a:t>
            </a:r>
          </a:p>
          <a:p>
            <a:pPr lvl="0" indent="0" marL="0">
              <a:buNone/>
            </a:pPr>
            <a:r>
              <a:rPr/>
              <a:t>#1 challenge: </a:t>
            </a:r>
            <a:r>
              <a:rPr b="1"/>
              <a:t>finding time to write documentation.</a:t>
            </a:r>
          </a:p>
          <a:p>
            <a:pPr lvl="0" indent="0" marL="0">
              <a:buNone/>
            </a:pPr>
            <a:r>
              <a:rPr/>
              <a:t>Nationally: </a:t>
            </a:r>
            <a:r>
              <a:rPr b="1"/>
              <a:t>60%</a:t>
            </a:r>
            <a:r>
              <a:rPr/>
              <a:t> of maintainers are unpaid; </a:t>
            </a:r>
            <a:r>
              <a:rPr b="1"/>
              <a:t>43%</a:t>
            </a:r>
            <a:r>
              <a:rPr/>
              <a:t> report burnout.</a:t>
            </a:r>
          </a:p>
          <a:p>
            <a:pPr lvl="0" indent="0" marL="0">
              <a:buNone/>
            </a:pPr>
            <a:r>
              <a:rPr/>
              <a:t>Network services:</a:t>
            </a:r>
          </a:p>
          <a:p>
            <a:pPr lvl="0"/>
            <a:r>
              <a:rPr/>
              <a:t>Cross-campus licensing working group (UCOP + tech transfer + IT)</a:t>
            </a:r>
          </a:p>
          <a:p>
            <a:pPr lvl="0"/>
            <a:r>
              <a:rPr/>
              <a:t>Project health assessment (OSSPREY)</a:t>
            </a:r>
          </a:p>
          <a:p>
            <a:pPr lvl="0"/>
            <a:r>
              <a:rPr/>
              <a:t>Containerization support · Community management</a:t>
            </a:r>
          </a:p>
          <a:p>
            <a:pPr lvl="0" indent="0" marL="0">
              <a:buNone/>
            </a:pPr>
            <a:r>
              <a:rPr/>
              <a:t>Scarlett et al. (2025) doi:10.31235/osf.io/p8bx6_v1 · Tidelift (2024) State of the Open Source Maintainer Report</a:t>
            </a:r>
          </a:p>
        </p:txBody>
      </p:sp>
      <p:sp>
        <p:nvSpPr>
          <p:cNvPr id="4" name="Content Placeholder 3"/>
          <p:cNvSpPr>
            <a:spLocks noGrp="1"/>
          </p:cNvSpPr>
          <p:nvPr>
            <p:ph idx="2" sz="half"/>
          </p:nvPr>
        </p:nvSpPr>
        <p:spPr/>
        <p:txBody>
          <a:bodyPr/>
          <a:lstStyle/>
          <a:p>
            <a:pPr lvl="0" indent="0" marL="0">
              <a:buNone/>
            </a:pPr>
            <a:r>
              <a:rPr/>
              <a:t>58%</a:t>
            </a:r>
          </a:p>
          <a:p>
            <a:pPr lvl="0" indent="0" marL="0">
              <a:buNone/>
            </a:pPr>
            <a:r>
              <a:rPr/>
              <a:t>of UC OSS contributorsare also maintainersnot just users, stewards</a:t>
            </a:r>
          </a:p>
          <a:p>
            <a:pPr lvl="0" indent="0" marL="0">
              <a:buNone/>
            </a:pPr>
            <a:r>
              <a:rPr/>
              <a:t>60%</a:t>
            </a:r>
          </a:p>
          <a:p>
            <a:pPr lvl="0" indent="0" marL="0">
              <a:buNone/>
            </a:pPr>
            <a:r>
              <a:rPr/>
              <a:t>unpaid nationally</a:t>
            </a:r>
          </a:p>
          <a:p>
            <a:pPr lvl="0" indent="0" marL="0">
              <a:buNone/>
            </a:pPr>
            <a:r>
              <a:rPr/>
              <a:t>43%</a:t>
            </a:r>
          </a:p>
          <a:p>
            <a:pPr lvl="0" indent="0" marL="0">
              <a:buNone/>
            </a:pPr>
            <a:r>
              <a:rPr/>
              <a:t>report burnout</a:t>
            </a:r>
          </a:p>
          <a:p>
            <a:pPr lvl="0" indent="0" marL="0">
              <a:buNone/>
            </a:pPr>
            <a:r>
              <a:rPr/>
              <a:t>Tidelift (2024) State of the Open Source Maintainer Report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dependency problem</a:t>
            </a:r>
          </a:p>
        </p:txBody>
      </p:sp>
      <p:pic>
        <p:nvPicPr>
          <p:cNvPr descr="https://imgs.xkcd.com/comics/dependency.png" id="0" name="Picture 1"/>
          <p:cNvPicPr>
            <a:picLocks noGrp="1" noChangeAspect="1"/>
          </p:cNvPicPr>
          <p:nvPr/>
        </p:nvPicPr>
        <p:blipFill>
          <a:blip r:embed="rId3"/>
          <a:stretch>
            <a:fillRect/>
          </a:stretch>
        </p:blipFill>
        <p:spPr bwMode="auto">
          <a:xfrm>
            <a:off x="3441700" y="1193800"/>
            <a:ext cx="22733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XKCD #2347 ‘Dependency’: a towering stack of blocks labeled ‘All modern digital infrastructure’ balances on a single tiny block labeled ‘A project some random person in Nebraska has been thanklessly maintaining since 2003’. By Randall Munroe.</a:t>
            </a:r>
          </a:p>
        </p:txBody>
      </p:sp>
      <p:sp>
        <p:nvSpPr>
          <p:cNvPr id="3" name="Content Placeholder 2"/>
          <p:cNvSpPr>
            <a:spLocks noGrp="1"/>
          </p:cNvSpPr>
          <p:nvPr>
            <p:ph idx="1"/>
          </p:nvPr>
        </p:nvSpPr>
        <p:spPr/>
        <p:txBody>
          <a:bodyPr/>
          <a:lstStyle/>
          <a:p>
            <a:pPr lvl="0" indent="0" marL="0">
              <a:buNone/>
            </a:pPr>
            <a:r>
              <a:rPr/>
              <a:t>xkcd #2347 (CC BY-NC 2.5) · UC survey: 58% of contributors are maintainers · Tidelift (2024): 60% unpaid, 43% burnt out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and open source: a new pressure</a:t>
            </a:r>
          </a:p>
        </p:txBody>
      </p:sp>
      <p:sp>
        <p:nvSpPr>
          <p:cNvPr id="3" name="Content Placeholder 2"/>
          <p:cNvSpPr>
            <a:spLocks noGrp="1"/>
          </p:cNvSpPr>
          <p:nvPr>
            <p:ph idx="1"/>
          </p:nvPr>
        </p:nvSpPr>
        <p:spPr/>
        <p:txBody>
          <a:bodyPr/>
          <a:lstStyle/>
          <a:p>
            <a:pPr lvl="0" indent="0" marL="0">
              <a:buNone/>
            </a:pPr>
            <a:r>
              <a:rPr/>
              <a:t>AI code generation is changing what it means to maintain a project.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Slop PRs</a:t>
            </a:r>
            <a:r>
              <a:rPr/>
              <a:t>: AI-generated contributions that look complete but are off-spec, shallow, or carry subtle bugs</a:t>
            </a:r>
          </a:p>
          <a:p>
            <a:pPr lvl="0"/>
            <a:r>
              <a:rPr/>
              <a:t>Review burden grows while maintainer capacity stays flat</a:t>
            </a:r>
          </a:p>
          <a:p>
            <a:pPr lvl="0"/>
            <a:r>
              <a:rPr/>
              <a:t>The OSS projects that trained the models are now flooded by their output</a:t>
            </a:r>
          </a:p>
          <a:p>
            <a:pPr lvl="0"/>
            <a:r>
              <a:rPr/>
              <a:t>Security risk: AI-generated code in dependencies with undetected vulnerabilities</a:t>
            </a:r>
          </a:p>
          <a:p>
            <a:pPr lvl="0" indent="0" marL="0">
              <a:buNone/>
            </a:pPr>
            <a:r>
              <a:rPr b="1"/>
              <a:t>OSPOs are developing responses:</a:t>
            </a:r>
            <a:r>
              <a:rPr/>
              <a:t> contribution disclosure policies, AI-aware code review norms, project-level guidance.</a:t>
            </a:r>
          </a:p>
          <a:p>
            <a:pPr lvl="0" indent="0" marL="0">
              <a:buNone/>
            </a:pPr>
            <a:r>
              <a:rPr/>
              <a:t>Baltes, Cheong &amp; Treude (2026) arxiv:2603.27249 · GitClear (2024) “Coding on Copilot”</a:t>
            </a:r>
          </a:p>
        </p:txBody>
      </p:sp>
      <p:sp>
        <p:nvSpPr>
          <p:cNvPr id="4" name="Content Placeholder 3"/>
          <p:cNvSpPr>
            <a:spLocks noGrp="1"/>
          </p:cNvSpPr>
          <p:nvPr>
            <p:ph idx="2" sz="half"/>
          </p:nvPr>
        </p:nvSpPr>
        <p:spPr/>
        <p:txBody>
          <a:bodyPr/>
          <a:lstStyle/>
          <a:p>
            <a:pPr lvl="0" indent="0" marL="0">
              <a:buNone/>
            </a:pPr>
            <a:r>
              <a:rPr b="1"/>
              <a:t>The structural shift</a:t>
            </a:r>
          </a:p>
          <a:p>
            <a:pPr lvl="0" indent="0" marL="0">
              <a:buNone/>
            </a:pPr>
            <a:r>
              <a:rPr b="1"/>
              <a:t>70%</a:t>
            </a:r>
            <a:r>
              <a:rPr/>
              <a:t> of new AI PhDs go straight to industry</a:t>
            </a:r>
          </a:p>
          <a:p>
            <a:pPr lvl="0" indent="0" marL="0">
              <a:buNone/>
            </a:pPr>
            <a:r>
              <a:rPr/>
              <a:t>(a decade ago: 50/50)</a:t>
            </a:r>
          </a:p>
          <a:p>
            <a:pPr lvl="0" indent="0" marL="0">
              <a:buNone/>
            </a:pPr>
            <a:r>
              <a:rPr b="1"/>
              <a:t>90%</a:t>
            </a:r>
            <a:r>
              <a:rPr/>
              <a:t> of notable AI models come from a handful of companies</a:t>
            </a:r>
          </a:p>
          <a:p>
            <a:pPr lvl="0" indent="0" marL="0">
              <a:buNone/>
            </a:pPr>
            <a:r>
              <a:rPr/>
              <a:t>Academia is being sidelined from the systems it helped create.</a:t>
            </a:r>
          </a:p>
          <a:p>
            <a:pPr lvl="0" indent="0" marL="0">
              <a:buNone/>
            </a:pPr>
            <a:r>
              <a:rPr/>
              <a:t>Ruff (2026) UC Open Summit · youtu.be/eBriL3CDNeo</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 training as infrastructure</a:t>
            </a:r>
          </a:p>
        </p:txBody>
      </p:sp>
      <p:sp>
        <p:nvSpPr>
          <p:cNvPr id="3" name="Content Placeholder 2"/>
          <p:cNvSpPr>
            <a:spLocks noGrp="1"/>
          </p:cNvSpPr>
          <p:nvPr>
            <p:ph idx="1" sz="half"/>
          </p:nvPr>
        </p:nvSpPr>
        <p:spPr/>
        <p:txBody>
          <a:bodyPr/>
          <a:lstStyle/>
          <a:p>
            <a:pPr lvl="0" indent="0" marL="0">
              <a:buNone/>
            </a:pPr>
            <a:r>
              <a:rPr/>
              <a:t>Gap analysis → curriculum inventory → learning pathways</a:t>
            </a:r>
          </a:p>
          <a:p>
            <a:pPr lvl="0"/>
            <a:r>
              <a:rPr/>
              <a:t>Inventoried existing materials: Carpentries, CodeRefinery, The Turing Way, UC-specific content</a:t>
            </a:r>
          </a:p>
          <a:p>
            <a:pPr lvl="0"/>
            <a:r>
              <a:rPr/>
              <a:t>Organized by topic (licensing, sustainability, community) and by role (contributor, maintainer, manager)</a:t>
            </a:r>
          </a:p>
          <a:p>
            <a:pPr lvl="0"/>
            <a:r>
              <a:rPr/>
              <a:t>Published at </a:t>
            </a:r>
            <a:r>
              <a:rPr>
                <a:hlinkClick r:id="rId3"/>
              </a:rPr>
              <a:t>ucospo.net/education</a:t>
            </a:r>
          </a:p>
          <a:p>
            <a:pPr lvl="0"/>
            <a:r>
              <a:rPr/>
              <a:t>Coordinated with data literacy programs and Carpentries infrastructure</a:t>
            </a:r>
          </a:p>
        </p:txBody>
      </p:sp>
      <p:pic>
        <p:nvPicPr>
          <p:cNvPr descr="images/ucospo-education.png" id="0" name="Picture 1"/>
          <p:cNvPicPr>
            <a:picLocks noGrp="1" noChangeAspect="1"/>
          </p:cNvPicPr>
          <p:nvPr/>
        </p:nvPicPr>
        <p:blipFill>
          <a:blip r:embed="rId4"/>
          <a:stretch>
            <a:fillRect/>
          </a:stretch>
        </p:blipFill>
        <p:spPr bwMode="auto">
          <a:xfrm>
            <a:off x="4648200" y="1422400"/>
            <a:ext cx="4038600" cy="2425700"/>
          </a:xfrm>
          <a:prstGeom prst="rect">
            <a:avLst/>
          </a:prstGeom>
          <a:noFill/>
          <a:ln w="9525">
            <a:noFill/>
            <a:headEnd/>
            <a:tailEnd/>
          </a:ln>
        </p:spPr>
      </p:pic>
      <p:sp>
        <p:nvSpPr>
          <p:cNvPr id="1" name="TextBox 3"/>
          <p:cNvSpPr txBox="1"/>
          <p:nvPr>
            <p:ph idx="1"/>
          </p:nvPr>
        </p:nvSpPr>
        <p:spPr>
          <a:xfrm>
            <a:off x="4648200" y="4076700"/>
            <a:ext cx="4038600" cy="508000"/>
          </a:xfrm>
          <a:prstGeom prst="rect">
            <a:avLst/>
          </a:prstGeom>
          <a:noFill/>
        </p:spPr>
        <p:txBody>
          <a:bodyPr/>
          <a:lstStyle/>
          <a:p>
            <a:pPr lvl="0" indent="0" marL="0" algn="ctr">
              <a:buNone/>
            </a:pPr>
            <a:r>
              <a:rPr/>
              <a:t>UC OSPO Network Education site showing the Open Source Learning Pathways, organized by role, skill level, and pathway, with beginner lesson cards including Software Licensing, Social Coding, and Finding and Evaluating Projects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Distributed expertise, system-wide capacity</a:t>
            </a:r>
          </a:p>
        </p:txBody>
      </p:sp>
      <p:sp>
        <p:nvSpPr>
          <p:cNvPr id="3" name="Content Placeholder 2"/>
          <p:cNvSpPr>
            <a:spLocks noGrp="1"/>
          </p:cNvSpPr>
          <p:nvPr>
            <p:ph idx="1"/>
          </p:nvPr>
        </p:nvSpPr>
        <p:spPr/>
        <p:txBody>
          <a:bodyPr/>
          <a:lstStyle/>
          <a:p>
            <a:pPr lvl="0" indent="0" marL="0">
              <a:buNone/>
            </a:pPr>
            <a:r>
              <a:rPr/>
              <a:t>Each campus brings what others don’t. The network routes it to where it’s needed.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Each campus contributes</a:t>
            </a:r>
          </a:p>
          <a:p>
            <a:pPr lvl="0"/>
            <a:r>
              <a:rPr/>
              <a:t>Unique domain expertise and staff knowledge</a:t>
            </a:r>
          </a:p>
          <a:p>
            <a:pPr lvl="0"/>
            <a:r>
              <a:rPr/>
              <a:t>Local relationships with researchers and faculty</a:t>
            </a:r>
          </a:p>
          <a:p>
            <a:pPr lvl="0"/>
            <a:r>
              <a:rPr/>
              <a:t>Pilots that can only run with campus context</a:t>
            </a:r>
          </a:p>
          <a:p>
            <a:pPr lvl="0"/>
            <a:r>
              <a:rPr/>
              <a:t>Specialized capacity others can learn from</a:t>
            </a:r>
          </a:p>
        </p:txBody>
      </p:sp>
      <p:sp>
        <p:nvSpPr>
          <p:cNvPr id="4" name="Content Placeholder 3"/>
          <p:cNvSpPr>
            <a:spLocks noGrp="1"/>
          </p:cNvSpPr>
          <p:nvPr>
            <p:ph idx="2" sz="half"/>
          </p:nvPr>
        </p:nvSpPr>
        <p:spPr/>
        <p:txBody>
          <a:bodyPr/>
          <a:lstStyle/>
          <a:p>
            <a:pPr lvl="0" indent="0" marL="0">
              <a:buNone/>
            </a:pPr>
            <a:r>
              <a:rPr b="1"/>
              <a:t>The network multiplies it</a:t>
            </a:r>
          </a:p>
          <a:p>
            <a:pPr lvl="0"/>
            <a:r>
              <a:rPr/>
              <a:t>Expertise flows across all six campuses</a:t>
            </a:r>
          </a:p>
          <a:p>
            <a:pPr lvl="0"/>
            <a:r>
              <a:rPr/>
              <a:t>Shared staffing no single campus could fund</a:t>
            </a:r>
          </a:p>
          <a:p>
            <a:pPr lvl="0"/>
            <a:r>
              <a:rPr/>
              <a:t>Smaller campuses build capacity they couldn’t alone</a:t>
            </a:r>
          </a:p>
          <a:p>
            <a:pPr lvl="0"/>
            <a:r>
              <a:rPr/>
              <a:t>A success at one becomes a template for five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Governed by an OSPO Leadership Group and thematic working groups, one per campus, coordinated at system level.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Lessons from two years</a:t>
            </a:r>
          </a:p>
        </p:txBody>
      </p:sp>
      <p:sp>
        <p:nvSpPr>
          <p:cNvPr id="3" name="Content Placeholder 2"/>
          <p:cNvSpPr>
            <a:spLocks noGrp="1"/>
          </p:cNvSpPr>
          <p:nvPr>
            <p:ph idx="1"/>
          </p:nvPr>
        </p:nvSpPr>
        <p:spPr/>
        <p:txBody>
          <a:bodyPr/>
          <a:lstStyle/>
          <a:p>
            <a:pPr lvl="0" indent="0" marL="0">
              <a:buNone/>
            </a:pPr>
            <a:r>
              <a:rPr/>
              <a:t>What the network model enables that single campuses cannot:</a:t>
            </a:r>
          </a:p>
          <a:p>
            <a:pPr lvl="0" indent="-342900" marL="342900">
              <a:buAutoNum type="arabicPeriod"/>
            </a:pPr>
            <a:r>
              <a:rPr b="1"/>
              <a:t>Shared staffing</a:t>
            </a:r>
            <a:r>
              <a:rPr/>
              <a:t>: community manager, licensing specialist, technical roles</a:t>
            </a:r>
          </a:p>
          <a:p>
            <a:pPr lvl="0" indent="-342900" marL="342900">
              <a:buAutoNum type="arabicPeriod"/>
            </a:pPr>
            <a:r>
              <a:rPr b="1"/>
              <a:t>Policy leverage</a:t>
            </a:r>
            <a:r>
              <a:rPr/>
              <a:t>: the network has standing with UCOP; individual campuses do not</a:t>
            </a:r>
          </a:p>
          <a:p>
            <a:pPr lvl="0" indent="-342900" marL="342900">
              <a:buAutoNum type="arabicPeriod"/>
            </a:pPr>
            <a:r>
              <a:rPr b="1"/>
              <a:t>Data at scale</a:t>
            </a:r>
            <a:r>
              <a:rPr/>
              <a:t>: the GitHub and survey analyses require system-wide scope to mean anything</a:t>
            </a:r>
          </a:p>
          <a:p>
            <a:pPr lvl="0" indent="-342900" marL="342900">
              <a:buAutoNum type="arabicPeriod"/>
            </a:pPr>
            <a:r>
              <a:rPr b="1"/>
              <a:t>Equity</a:t>
            </a:r>
            <a:r>
              <a:rPr/>
              <a:t>: smaller campuses get services they could not build alone</a:t>
            </a:r>
          </a:p>
          <a:p>
            <a:pPr lvl="0" indent="-342900" marL="342900">
              <a:buAutoNum type="arabicPeriod"/>
            </a:pPr>
            <a:r>
              <a:rPr b="1"/>
              <a:t>A replicable model</a:t>
            </a:r>
            <a:r>
              <a:rPr/>
              <a:t>: $1.85M produced something other state systems can follow</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this meets your work</a:t>
            </a:r>
          </a:p>
        </p:txBody>
      </p:sp>
      <p:sp>
        <p:nvSpPr>
          <p:cNvPr id="3" name="Content Placeholder 2"/>
          <p:cNvSpPr>
            <a:spLocks noGrp="1"/>
          </p:cNvSpPr>
          <p:nvPr>
            <p:ph idx="1"/>
          </p:nvPr>
        </p:nvSpPr>
        <p:spPr/>
        <p:txBody>
          <a:bodyPr/>
          <a:lstStyle/>
          <a:p>
            <a:pPr lvl="0" indent="0" marL="0">
              <a:buNone/>
            </a:pPr>
            <a:r>
              <a:rPr/>
              <a:t>For data professionals, the OSPO sits at the intersection of:</a:t>
            </a:r>
          </a:p>
          <a:p>
            <a:pPr lvl="0"/>
            <a:r>
              <a:rPr/>
              <a:t>Research software engineering ↔ data management</a:t>
            </a:r>
          </a:p>
          <a:p>
            <a:pPr lvl="0"/>
            <a:r>
              <a:rPr/>
              <a:t>Licensing compliance ↔ open data policy</a:t>
            </a:r>
          </a:p>
          <a:p>
            <a:pPr lvl="0"/>
            <a:r>
              <a:rPr/>
              <a:t>Reproducibility tooling ↔ FAIR / FAIR4RS</a:t>
            </a:r>
          </a:p>
          <a:p>
            <a:pPr lvl="0"/>
            <a:r>
              <a:rPr/>
              <a:t>Training infrastructure ↔ data literacy programs</a:t>
            </a:r>
          </a:p>
          <a:p>
            <a:pPr lvl="0"/>
            <a:r>
              <a:rPr/>
              <a:t>RSE community ↔ library research support</a:t>
            </a:r>
          </a:p>
          <a:p>
            <a:pPr lvl="0" indent="0" marL="0">
              <a:buNone/>
            </a:pPr>
            <a:r>
              <a:rPr b="1"/>
              <a:t>For your institution:</a:t>
            </a:r>
          </a:p>
          <a:p>
            <a:pPr lvl="0"/>
            <a:r>
              <a:rPr/>
              <a:t>Where does open source software governance currently live?</a:t>
            </a:r>
          </a:p>
          <a:p>
            <a:pPr lvl="0"/>
            <a:r>
              <a:rPr/>
              <a:t>What would it take to treat it as infrastructure rather than a side project?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You’re already doing this work</a:t>
            </a:r>
          </a:p>
        </p:txBody>
      </p:sp>
      <p:sp>
        <p:nvSpPr>
          <p:cNvPr id="3" name="Content Placeholder 2"/>
          <p:cNvSpPr>
            <a:spLocks noGrp="1"/>
          </p:cNvSpPr>
          <p:nvPr>
            <p:ph idx="1" sz="half"/>
          </p:nvPr>
        </p:nvSpPr>
        <p:spPr/>
        <p:txBody>
          <a:bodyPr/>
          <a:lstStyle/>
          <a:p>
            <a:pPr lvl="0" indent="0" marL="0">
              <a:buNone/>
            </a:pPr>
            <a:r>
              <a:rPr/>
              <a:t>If you do technical data services, researchers are already bringing you these questions:</a:t>
            </a:r>
          </a:p>
          <a:p>
            <a:pPr lvl="0"/>
            <a:r>
              <a:rPr/>
              <a:t>“What license should I use for this code?”</a:t>
            </a:r>
          </a:p>
          <a:p>
            <a:pPr lvl="0"/>
            <a:r>
              <a:rPr/>
              <a:t>“Is this library still maintained? Should I depend on it?”</a:t>
            </a:r>
          </a:p>
          <a:p>
            <a:pPr lvl="0"/>
            <a:r>
              <a:rPr/>
              <a:t>“How do I make this reproducible and citable?”</a:t>
            </a:r>
          </a:p>
          <a:p>
            <a:pPr lvl="0"/>
            <a:r>
              <a:rPr/>
              <a:t>“My funder wants a software management plan.”</a:t>
            </a:r>
          </a:p>
          <a:p>
            <a:pPr lvl="0"/>
            <a:r>
              <a:rPr/>
              <a:t>“How do I accept contributions from collaborators?”</a:t>
            </a:r>
          </a:p>
          <a:p>
            <a:pPr lvl="0" indent="0" marL="0">
              <a:buNone/>
            </a:pPr>
            <a:r>
              <a:rPr b="1"/>
              <a:t>That is OSPO work.</a:t>
            </a:r>
            <a:r>
              <a:rPr/>
              <a:t> The frame makes it legible to you, your institution, and the researchers you serve.</a:t>
            </a:r>
          </a:p>
        </p:txBody>
      </p:sp>
      <p:sp>
        <p:nvSpPr>
          <p:cNvPr id="4" name="Content Placeholder 3"/>
          <p:cNvSpPr>
            <a:spLocks noGrp="1"/>
          </p:cNvSpPr>
          <p:nvPr>
            <p:ph idx="2" sz="half"/>
          </p:nvPr>
        </p:nvSpPr>
        <p:spPr/>
        <p:txBody>
          <a:bodyPr/>
          <a:lstStyle/>
          <a:p>
            <a:pPr lvl="0" indent="0" marL="0">
              <a:buNone/>
            </a:pPr>
            <a:r>
              <a:rPr b="1"/>
              <a:t>Raise the floor, not just solve the ticket</a:t>
            </a:r>
          </a:p>
          <a:p>
            <a:pPr lvl="0" indent="0" marL="0">
              <a:buNone/>
            </a:pPr>
            <a:r>
              <a:rPr/>
              <a:t>Fixing their immediate problem gets them through the week.</a:t>
            </a:r>
          </a:p>
          <a:p>
            <a:pPr lvl="0" indent="0" marL="0">
              <a:buNone/>
            </a:pPr>
            <a:r>
              <a:rPr/>
              <a:t>Moving them from “it runs on my machine” to maintainable, licensed, citable software gets their whole lab there, and their students after them.</a:t>
            </a:r>
          </a:p>
          <a:p>
            <a:pPr lvl="0" indent="0" marL="0">
              <a:buNone/>
            </a:pPr>
            <a:r>
              <a:rPr/>
              <a:t>You don’t need a formal OSPO to do this. You need the frame.</a:t>
            </a:r>
          </a:p>
          <a:p>
            <a:pPr lvl="0" indent="0" marL="0">
              <a:buNone/>
            </a:pPr>
            <a:r>
              <a:rPr b="1"/>
              <a:t>OSPO heuristics already in your toolkit:</a:t>
            </a:r>
            <a:r>
              <a:rPr/>
              <a:t> health signals · bus factor · governance files · FAIR4RS · software DMPs · contributor conventions · community governance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can do right now</a:t>
            </a:r>
          </a:p>
        </p:txBody>
      </p:sp>
      <p:sp>
        <p:nvSpPr>
          <p:cNvPr id="3" name="Content Placeholder 2"/>
          <p:cNvSpPr>
            <a:spLocks noGrp="1"/>
          </p:cNvSpPr>
          <p:nvPr>
            <p:ph idx="1"/>
          </p:nvPr>
        </p:nvSpPr>
        <p:spPr/>
        <p:txBody>
          <a:bodyPr/>
          <a:lstStyle/>
          <a:p>
            <a:pPr lvl="0" indent="0" marL="0">
              <a:buNone/>
            </a:pPr>
            <a:r>
              <a:rPr/>
              <a:t>If you advise on data-intensive research, you are probably already helping with code.</a:t>
            </a:r>
          </a:p>
          <a:p>
            <a:pPr lvl="0" indent="0" marL="0">
              <a:buNone/>
            </a:pPr>
            <a:r>
              <a:rPr b="1"/>
              <a:t>The network has already built the resources</a:t>
            </a:r>
            <a:r>
              <a:rPr/>
              <a:t> (Laura Langdon, UC OSPO)</a:t>
            </a:r>
            <a:r>
              <a:rPr b="1"/>
              <a:t>:</a:t>
            </a:r>
          </a:p>
          <a:p>
            <a:pPr lvl="0"/>
            <a:r>
              <a:rPr>
                <a:hlinkClick r:id="rId3"/>
                <a:latin typeface="Courier"/>
              </a:rPr>
              <a:t>README.md</a:t>
            </a:r>
            <a:r>
              <a:rPr/>
              <a:t> - template + guide</a:t>
            </a:r>
          </a:p>
          <a:p>
            <a:pPr lvl="0"/>
            <a:r>
              <a:rPr>
                <a:hlinkClick r:id="rId4"/>
                <a:latin typeface="Courier"/>
              </a:rPr>
              <a:t>LICENSE</a:t>
            </a:r>
            <a:r>
              <a:rPr/>
              <a:t> - guide includes UC-approved options</a:t>
            </a:r>
          </a:p>
          <a:p>
            <a:pPr lvl="0"/>
            <a:r>
              <a:rPr>
                <a:hlinkClick r:id="rId5"/>
                <a:latin typeface="Courier"/>
              </a:rPr>
              <a:t>CONTRIBUTING.md</a:t>
            </a:r>
            <a:r>
              <a:rPr/>
              <a:t> - template + guide</a:t>
            </a:r>
          </a:p>
          <a:p>
            <a:pPr lvl="0"/>
            <a:r>
              <a:rPr>
                <a:hlinkClick r:id="rId6"/>
                <a:latin typeface="Courier"/>
              </a:rPr>
              <a:t>CODE_OF_CONDUCT.md</a:t>
            </a:r>
            <a:r>
              <a:rPr/>
              <a:t> - Contributor Covenant + guidance</a:t>
            </a:r>
          </a:p>
          <a:p>
            <a:pPr lvl="0"/>
            <a:r>
              <a:rPr>
                <a:latin typeface="Courier"/>
              </a:rPr>
              <a:t>CITATION.cff</a:t>
            </a:r>
            <a:r>
              <a:rPr/>
              <a:t> + Zenodo release → citable, versioned DOI</a:t>
            </a:r>
          </a:p>
          <a:p>
            <a:pPr lvl="0" indent="0" marL="0">
              <a:buNone/>
            </a:pPr>
            <a:r>
              <a:rPr b="1"/>
              <a:t>Going further:</a:t>
            </a:r>
          </a:p>
          <a:p>
            <a:pPr lvl="0"/>
            <a:r>
              <a:rPr>
                <a:hlinkClick r:id="rId7"/>
              </a:rPr>
              <a:t>Growing a Community Around a Project</a:t>
            </a:r>
            <a:r>
              <a:rPr/>
              <a:t> - UC OSPO</a:t>
            </a:r>
          </a:p>
          <a:p>
            <a:pPr lvl="0"/>
            <a:r>
              <a:rPr>
                <a:hlinkClick r:id="rId8"/>
              </a:rPr>
              <a:t>Sharing Research Software: Reproducible, Citable, and Discoverable</a:t>
            </a:r>
            <a:r>
              <a:rPr/>
              <a:t> - Carpentries Incubator lesson (covers </a:t>
            </a:r>
            <a:r>
              <a:rPr>
                <a:latin typeface="Courier"/>
              </a:rPr>
              <a:t>pixi</a:t>
            </a:r>
            <a:r>
              <a:rPr/>
              <a:t>, CITATION.cff, Zenodo, discoverability)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 more / connect</a:t>
            </a:r>
          </a:p>
        </p:txBody>
      </p:sp>
      <p:sp>
        <p:nvSpPr>
          <p:cNvPr id="3" name="Content Placeholder 2"/>
          <p:cNvSpPr>
            <a:spLocks noGrp="1"/>
          </p:cNvSpPr>
          <p:nvPr>
            <p:ph idx="1" sz="half"/>
          </p:nvPr>
        </p:nvSpPr>
        <p:spPr/>
        <p:txBody>
          <a:bodyPr/>
          <a:lstStyle/>
          <a:p>
            <a:pPr lvl="0" indent="0" marL="0">
              <a:buNone/>
            </a:pPr>
            <a:r>
              <a:rPr b="1"/>
              <a:t>UC OSPO Network:</a:t>
            </a:r>
            <a:r>
              <a:rPr/>
              <a:t> </a:t>
            </a:r>
            <a:r>
              <a:rPr>
                <a:hlinkClick r:id="rId3"/>
              </a:rPr>
              <a:t>ucospo.net</a:t>
            </a:r>
          </a:p>
          <a:p>
            <a:pPr lvl="0"/>
            <a:r>
              <a:rPr/>
              <a:t>Education site: </a:t>
            </a:r>
            <a:r>
              <a:rPr>
                <a:hlinkClick r:id="rId4"/>
              </a:rPr>
              <a:t>ucospo.net/education</a:t>
            </a:r>
          </a:p>
          <a:p>
            <a:pPr lvl="0"/>
            <a:r>
              <a:rPr/>
              <a:t>Mailing list, Slack, events calendar</a:t>
            </a:r>
          </a:p>
          <a:p>
            <a:pPr lvl="0" indent="0" marL="0">
              <a:buNone/>
            </a:pPr>
            <a:r>
              <a:rPr b="1"/>
              <a:t>Global network:</a:t>
            </a:r>
            <a:r>
              <a:rPr/>
              <a:t> </a:t>
            </a:r>
            <a:r>
              <a:rPr>
                <a:hlinkClick r:id="rId5"/>
              </a:rPr>
              <a:t>curioss.org</a:t>
            </a:r>
            <a:r>
              <a:rPr/>
              <a:t>, 34 academic OSPOs worldwide and growing</a:t>
            </a:r>
          </a:p>
          <a:p>
            <a:pPr lvl="0" indent="0" marL="0">
              <a:buNone/>
            </a:pPr>
            <a:r>
              <a:rPr b="1"/>
              <a:t>Tim Dennis</a:t>
            </a:r>
            <a:r>
              <a:rPr/>
              <a:t> Data Science Center, UCLA Library tdennis@library.ucla.edu</a:t>
            </a:r>
          </a:p>
          <a:p>
            <a:pPr lvl="0" indent="0" marL="0">
              <a:buNone/>
            </a:pPr>
            <a:r>
              <a:rPr/>
              <a:t>🖥 Slides: </a:t>
            </a:r>
            <a:r>
              <a:rPr b="1"/>
              <a:t>tinyurl.com/iassist2026</a:t>
            </a:r>
          </a:p>
          <a:p>
            <a:pPr lvl="0" indent="0" marL="0">
              <a:buNone/>
            </a:pPr>
            <a:r>
              <a:rPr/>
              <a:t>📄 Handout: </a:t>
            </a:r>
            <a:r>
              <a:rPr b="1"/>
              <a:t>tinyurl.com/iassist2026-handout</a:t>
            </a:r>
          </a:p>
        </p:txBody>
      </p:sp>
      <p:sp>
        <p:nvSpPr>
          <p:cNvPr id="4" name="Content Placeholder 3"/>
          <p:cNvSpPr>
            <a:spLocks noGrp="1"/>
          </p:cNvSpPr>
          <p:nvPr>
            <p:ph idx="2" sz="half"/>
          </p:nvPr>
        </p:nvSpPr>
        <p:spPr/>
        <p:txBody>
          <a:bodyPr/>
          <a:lstStyle/>
          <a:p>
            <a:pPr lvl="0" indent="0" marL="0">
              <a:buNone/>
            </a:pPr>
            <a:r>
              <a:rPr/>
              <a:t>QR code linking to tinyurl.com/iassist2026 — slides for this presentation</a:t>
            </a:r>
          </a:p>
          <a:p>
            <a:pPr lvl="0" indent="0" marL="0">
              <a:buNone/>
            </a:pPr>
            <a:r>
              <a:rPr/>
              <a:t>QR code linking to tinyurl.com/iassist2026 — slides for this presentation</a:t>
            </a:r>
          </a:p>
          <a:p>
            <a:pPr lvl="0" indent="0" marL="0">
              <a:buNone/>
            </a:pPr>
            <a:r>
              <a:rPr/>
              <a:t>tinyurl.com/iassist2026</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Barker, M., Chue Hong, N. P., Katz, D. S., Lamprecht, A.-L., Martinez-Ortiz, C., Psomopoulos, F., Harrow, J., Castro, L. J., Gruenpeter, M., Martinez, P. A., &amp; Honeyman, T. (2022). Introducing the FAIR principles for research software. </a:t>
            </a:r>
            <a:r>
              <a:rPr i="1"/>
              <a:t>Scientific Data</a:t>
            </a:r>
            <a:r>
              <a:rPr/>
              <a:t>, </a:t>
            </a:r>
            <a:r>
              <a:rPr i="1"/>
              <a:t>9</a:t>
            </a:r>
            <a:r>
              <a:rPr/>
              <a:t>, 622. </a:t>
            </a:r>
            <a:r>
              <a:rPr>
                <a:hlinkClick r:id="rId2"/>
              </a:rPr>
              <a:t>https://doi.org/10.1038/s41597-022-01710-x</a:t>
            </a:r>
          </a:p>
          <a:p>
            <a:pPr lvl="0" indent="0" marL="0">
              <a:buNone/>
            </a:pPr>
            <a:r>
              <a:rPr/>
              <a:t>Brown, C. T., &amp; Irber, L. (2016). Sourmash: A library for MinHash sketching of DNA. </a:t>
            </a:r>
            <a:r>
              <a:rPr i="1"/>
              <a:t>Journal of Open Source Software</a:t>
            </a:r>
            <a:r>
              <a:rPr/>
              <a:t>, </a:t>
            </a:r>
            <a:r>
              <a:rPr i="1"/>
              <a:t>1</a:t>
            </a:r>
            <a:r>
              <a:rPr/>
              <a:t>(5), 27. </a:t>
            </a:r>
            <a:r>
              <a:rPr>
                <a:hlinkClick r:id="rId3"/>
              </a:rPr>
              <a:t>https://doi.org/10.21105/joss.00027</a:t>
            </a:r>
          </a:p>
          <a:p>
            <a:pPr lvl="0" indent="0" marL="0">
              <a:buNone/>
            </a:pPr>
            <a:r>
              <a:rPr/>
              <a:t>Cerf, V. G., &amp; Kahn, R. E. (1974). A protocol for packet network intercommunication. </a:t>
            </a:r>
            <a:r>
              <a:rPr i="1"/>
              <a:t>IEEE Transactions on Communications</a:t>
            </a:r>
            <a:r>
              <a:rPr/>
              <a:t>, </a:t>
            </a:r>
            <a:r>
              <a:rPr i="1"/>
              <a:t>22</a:t>
            </a:r>
            <a:r>
              <a:rPr/>
              <a:t>(5), 637–648. </a:t>
            </a:r>
            <a:r>
              <a:rPr>
                <a:hlinkClick r:id="rId4"/>
              </a:rPr>
              <a:t>https://doi.org/10.1109/TCOM.1974.1092259</a:t>
            </a:r>
          </a:p>
          <a:p>
            <a:pPr lvl="0" indent="0" marL="0">
              <a:buNone/>
            </a:pPr>
            <a:r>
              <a:rPr/>
              <a:t>Delorme, A., &amp; Makeig, S. (2004). EEGLAB: An open source toolbox for analysis of single-trial EEG dynamics including independent component analysis. </a:t>
            </a:r>
            <a:r>
              <a:rPr i="1"/>
              <a:t>Journal of Neuroscience Methods</a:t>
            </a:r>
            <a:r>
              <a:rPr/>
              <a:t>, </a:t>
            </a:r>
            <a:r>
              <a:rPr i="1"/>
              <a:t>134</a:t>
            </a:r>
            <a:r>
              <a:rPr/>
              <a:t>(1), 9–21. </a:t>
            </a:r>
            <a:r>
              <a:rPr>
                <a:hlinkClick r:id="rId5"/>
              </a:rPr>
              <a:t>https://doi.org/10.1016/j.jneumeth.2003.10.009</a:t>
            </a:r>
          </a:p>
          <a:p>
            <a:pPr lvl="0" indent="0" marL="0">
              <a:buNone/>
            </a:pPr>
            <a:r>
              <a:rPr/>
              <a:t>Eastman, P., Swails, J., Chodera, J. D., McGibbon, R. T., Zhao, Y., Beauchamp, K. A., Wang, L.-P., Simmonett, A. C., Harrigan, M. P., Stern, C. D., Wiewiora, R. P., Brooks, B. R., &amp; Pande, V. S. (2017). OpenMM 7: Rapid development of high performance algorithms for molecular dynamics. </a:t>
            </a:r>
            <a:r>
              <a:rPr i="1"/>
              <a:t>PLOS Computational Biology</a:t>
            </a:r>
            <a:r>
              <a:rPr/>
              <a:t>, </a:t>
            </a:r>
            <a:r>
              <a:rPr i="1"/>
              <a:t>13</a:t>
            </a:r>
            <a:r>
              <a:rPr/>
              <a:t>(7), e1005659. </a:t>
            </a:r>
            <a:r>
              <a:rPr>
                <a:hlinkClick r:id="rId6"/>
              </a:rPr>
              <a:t>https://doi.org/10.1371/journal.pcbi.1005659</a:t>
            </a:r>
          </a:p>
          <a:p>
            <a:pPr lvl="0" indent="0" marL="0">
              <a:buNone/>
            </a:pPr>
            <a:r>
              <a:rPr/>
              <a:t>Gomez, J., Lovell, E., Lieggi, S., Cardenas, A. A., &amp; Davis, J. (2025). </a:t>
            </a:r>
            <a:r>
              <a:rPr i="1"/>
              <a:t>Recipe for discovery: A pipeline for institutional open source activity</a:t>
            </a:r>
            <a:r>
              <a:rPr/>
              <a:t>. </a:t>
            </a:r>
            <a:r>
              <a:rPr>
                <a:hlinkClick r:id="rId7"/>
              </a:rPr>
              <a:t>https://arxiv.org/abs/2506.18359</a:t>
            </a:r>
          </a:p>
          <a:p>
            <a:pPr lvl="0" indent="0" marL="0">
              <a:buNone/>
            </a:pPr>
            <a:r>
              <a:rPr/>
              <a:t>Hettrick, S., Antonioletti, M., Carr, L., Chue Hong, N., Crouch, S., De Roure, D., Emsley, I., Goble, C., Hay, A., Inupakutika, D., et al. (2014). </a:t>
            </a:r>
            <a:r>
              <a:rPr i="1"/>
              <a:t>UK Research Software Survey 2014</a:t>
            </a:r>
            <a:r>
              <a:rPr/>
              <a:t>. Software Sustainability Institute. </a:t>
            </a:r>
            <a:r>
              <a:rPr>
                <a:hlinkClick r:id="rId8"/>
              </a:rPr>
              <a:t>https://doi.org/10.5281/zenodo.14809</a:t>
            </a:r>
          </a:p>
          <a:p>
            <a:pPr lvl="0" indent="0" marL="0">
              <a:buNone/>
            </a:pPr>
            <a:r>
              <a:rPr/>
              <a:t>Hoffmann, M., Nagle, F., &amp; Zhou, Y. (2024). </a:t>
            </a:r>
            <a:r>
              <a:rPr i="1"/>
              <a:t>The value of open source software</a:t>
            </a:r>
            <a:r>
              <a:rPr/>
              <a:t> (Working Paper Nos. 24-038). Harvard Business School. </a:t>
            </a:r>
            <a:r>
              <a:rPr>
                <a:hlinkClick r:id="rId9"/>
              </a:rPr>
              <a:t>https://doi.org/10.2139/ssrn.4693148</a:t>
            </a:r>
          </a:p>
          <a:p>
            <a:pPr lvl="0" indent="0" marL="0">
              <a:buNone/>
            </a:pPr>
            <a:r>
              <a:rPr/>
              <a:t>Kent, W. J., Sugnet, C. W., Furey, T. S., Roskin, K. M., Pringle, T. H., Zahler, A. M., &amp; Haussler, D. (2002). The human genome browser at UCSC. </a:t>
            </a:r>
            <a:r>
              <a:rPr i="1"/>
              <a:t>Genome Research</a:t>
            </a:r>
            <a:r>
              <a:rPr/>
              <a:t>, </a:t>
            </a:r>
            <a:r>
              <a:rPr i="1"/>
              <a:t>12</a:t>
            </a:r>
            <a:r>
              <a:rPr/>
              <a:t>(6), 996–1006. </a:t>
            </a:r>
            <a:r>
              <a:rPr>
                <a:hlinkClick r:id="rId10"/>
              </a:rPr>
              <a:t>https://doi.org/10.1101/gr.229102</a:t>
            </a:r>
          </a:p>
          <a:p>
            <a:pPr lvl="0" indent="0" marL="0">
              <a:buNone/>
            </a:pPr>
            <a:r>
              <a:rPr/>
              <a:t>Kluyver, T., Ragan-Kelley, B., Pérez, F., Granger, B., Bussonnier, M., Frederic, J., Kelley, K., Hamrick, J., Grout, J., Corlay, S., Ivanov, P., Avila, D., Abdalla, S., &amp; Willing, C. (2016). Jupyter Notebooks — a publishing format for reproducible computational workflows. In F. Loizides &amp; B. Schmidt (Eds.), </a:t>
            </a:r>
            <a:r>
              <a:rPr i="1"/>
              <a:t>Positioning and power in academic publishing: Players, agents and agendas</a:t>
            </a:r>
            <a:r>
              <a:rPr/>
              <a:t> (pp. 87–90). IOS Press. </a:t>
            </a:r>
            <a:r>
              <a:rPr>
                <a:hlinkClick r:id="rId11"/>
              </a:rPr>
              <a:t>https://doi.org/10.3233/978-1-61499-649-1-87</a:t>
            </a:r>
          </a:p>
          <a:p>
            <a:pPr lvl="0" indent="0" marL="0">
              <a:buNone/>
            </a:pPr>
            <a:r>
              <a:rPr/>
              <a:t>Moritz, P., Nishihara, R., Wang, S., Tumanov, A., Liaw, R., Liang, E., Elibol, M., Yang, Z., Paul, W., Jordan, M. I., &amp; Stoica, I. (2018). Ray: A distributed framework for emerging AI applications. </a:t>
            </a:r>
            <a:r>
              <a:rPr i="1"/>
              <a:t>13th USENIX Symposium on Operating Systems Design and Implementation (OSDI)</a:t>
            </a:r>
            <a:r>
              <a:rPr/>
              <a:t>, 561–577.</a:t>
            </a:r>
          </a:p>
          <a:p>
            <a:pPr lvl="0" indent="0" marL="0">
              <a:buNone/>
            </a:pPr>
            <a:r>
              <a:rPr/>
              <a:t>Olson, A. D., &amp; Eggert, P. (1986). </a:t>
            </a:r>
            <a:r>
              <a:rPr i="1"/>
              <a:t>tz database (IANA time zone database)</a:t>
            </a:r>
            <a:r>
              <a:rPr/>
              <a:t>. IANA. </a:t>
            </a:r>
            <a:r>
              <a:rPr>
                <a:hlinkClick r:id="rId12"/>
              </a:rPr>
              <a:t>https://www.iana.org/time-zones</a:t>
            </a:r>
          </a:p>
          <a:p>
            <a:pPr lvl="0" indent="0" marL="0">
              <a:buNone/>
            </a:pPr>
            <a:r>
              <a:rPr/>
              <a:t>Ruff, N. (2026). </a:t>
            </a:r>
            <a:r>
              <a:rPr i="1"/>
              <a:t>The role of foundations in advancing open collaboration and innovation</a:t>
            </a:r>
            <a:r>
              <a:rPr/>
              <a:t>. UC Open Summit. </a:t>
            </a:r>
            <a:r>
              <a:rPr>
                <a:hlinkClick r:id="rId13"/>
              </a:rPr>
              <a:t>https://youtu.be/eBriL3CDNeo</a:t>
            </a:r>
          </a:p>
          <a:p>
            <a:pPr lvl="0" indent="0" marL="0">
              <a:buNone/>
            </a:pPr>
            <a:r>
              <a:rPr/>
              <a:t>Scarlett, V., Curty, R. G., Gomez, J., Langdon, L., Janée, G., &amp; Budden, A. E. (2025). </a:t>
            </a:r>
            <a:r>
              <a:rPr i="1"/>
              <a:t>A system-wide snapshot: A multi-campus survey of open source contributors at the University of California</a:t>
            </a:r>
            <a:r>
              <a:rPr/>
              <a:t>. SocArXiv. </a:t>
            </a:r>
            <a:r>
              <a:rPr>
                <a:hlinkClick r:id="rId14"/>
              </a:rPr>
              <a:t>https://doi.org/10.31235/osf.io/p8bx6_v1</a:t>
            </a:r>
          </a:p>
          <a:p>
            <a:pPr lvl="0" indent="0" marL="0">
              <a:buNone/>
            </a:pPr>
            <a:r>
              <a:rPr/>
              <a:t>Shannon, P., Markiel, A., Ozier, O., Baliga, N. S., Wang, J. T., Ramage, D., Amin, N., Schwikowski, B., &amp; Ideker, T. (2003). Cytoscape: A software environment for integrated models of biomolecular interaction networks. </a:t>
            </a:r>
            <a:r>
              <a:rPr i="1"/>
              <a:t>Genome Research</a:t>
            </a:r>
            <a:r>
              <a:rPr/>
              <a:t>, </a:t>
            </a:r>
            <a:r>
              <a:rPr i="1"/>
              <a:t>13</a:t>
            </a:r>
            <a:r>
              <a:rPr/>
              <a:t>(11), 2498–2504. </a:t>
            </a:r>
            <a:r>
              <a:rPr>
                <a:hlinkClick r:id="rId15"/>
              </a:rPr>
              <a:t>https://doi.org/10.1101/gr.1239303</a:t>
            </a:r>
          </a:p>
          <a:p>
            <a:pPr lvl="0" indent="0" marL="0">
              <a:buNone/>
            </a:pPr>
            <a:r>
              <a:rPr/>
              <a:t>Stonebraker, M., &amp; Rowe, L. A. (1987). </a:t>
            </a:r>
            <a:r>
              <a:rPr i="1"/>
              <a:t>The design of POSTGRES</a:t>
            </a:r>
            <a:r>
              <a:rPr/>
              <a:t> (UCB/ERL M86/85). University of California, Berkeley.</a:t>
            </a:r>
          </a:p>
          <a:p>
            <a:pPr lvl="0" indent="0" marL="0">
              <a:buNone/>
            </a:pPr>
            <a:r>
              <a:rPr/>
              <a:t>Stonebraker, M., Wong, E., Kreps, P., &amp; Held, G. (1976). The design and implementation of INGRES. </a:t>
            </a:r>
            <a:r>
              <a:rPr i="1"/>
              <a:t>ACM Transactions on Database Systems</a:t>
            </a:r>
            <a:r>
              <a:rPr/>
              <a:t>, </a:t>
            </a:r>
            <a:r>
              <a:rPr i="1"/>
              <a:t>1</a:t>
            </a:r>
            <a:r>
              <a:rPr/>
              <a:t>(3), 189–222. </a:t>
            </a:r>
            <a:r>
              <a:rPr>
                <a:hlinkClick r:id="rId16"/>
              </a:rPr>
              <a:t>https://doi.org/10.1145/320473.320476</a:t>
            </a:r>
          </a:p>
          <a:p>
            <a:pPr lvl="0" indent="0" marL="0">
              <a:buNone/>
            </a:pPr>
            <a:r>
              <a:rPr/>
              <a:t>Tidelift. (2024). </a:t>
            </a:r>
            <a:r>
              <a:rPr i="1"/>
              <a:t>The 2024 Tidelift maintainer impact report</a:t>
            </a:r>
            <a:r>
              <a:rPr/>
              <a:t>. Tidelift. </a:t>
            </a:r>
            <a:r>
              <a:rPr>
                <a:hlinkClick r:id="rId17"/>
              </a:rPr>
              <a:t>https://dev.to/tidelift/the-open-source-maintainer-community-is-getting-grayer-1gc2</a:t>
            </a:r>
          </a:p>
          <a:p>
            <a:pPr lvl="0" indent="0" marL="0">
              <a:buNone/>
            </a:pPr>
            <a:r>
              <a:rPr/>
              <a:t>Waterman, A., &amp; Asanović, K. (2019). </a:t>
            </a:r>
            <a:r>
              <a:rPr i="1"/>
              <a:t>The RISC-V instruction set manual, volume I: Unprivileged ISA</a:t>
            </a:r>
            <a:r>
              <a:rPr/>
              <a:t>. RISC-V Foundation. </a:t>
            </a:r>
            <a:r>
              <a:rPr>
                <a:hlinkClick r:id="rId18"/>
              </a:rPr>
              <a:t>https://github.com/riscv/riscv-isa-manual</a:t>
            </a:r>
          </a:p>
          <a:p>
            <a:pPr lvl="0" indent="0" marL="0">
              <a:buNone/>
            </a:pPr>
            <a:r>
              <a:rPr/>
              <a:t>Weil, S. A., Brandt, S. A., Miller, E. L., Long, D. D. E., &amp; Maltzahn, C. (2006). Ceph: A scalable, high-performance distributed file system. </a:t>
            </a:r>
            <a:r>
              <a:rPr i="1"/>
              <a:t>7th USENIX Symposium on Operating Systems Design and Implementation (OSDI)</a:t>
            </a:r>
            <a:r>
              <a:rPr/>
              <a:t>, 307–320.</a:t>
            </a:r>
          </a:p>
          <a:p>
            <a:pPr lvl="0" indent="0" marL="0">
              <a:buNone/>
            </a:pPr>
            <a:r>
              <a:rPr/>
              <a:t>Zaharia, M., Chowdhury, M., Das, T., Dave, A., Ma, J., McCauly, M., Franklin, M. J., Shenker, S., &amp; Stoica, I. (2012). Resilient distributed datasets: A fault-tolerant abstraction for in-memory cluster computing. </a:t>
            </a:r>
            <a:r>
              <a:rPr i="1"/>
              <a:t>9th USENIX Symposium on Networked Systems Design and Implementation (NSDI)</a:t>
            </a:r>
            <a:r>
              <a:rPr/>
              <a:t>, 15–28.</a:t>
            </a:r>
          </a:p>
          <a:p>
            <a:pPr lvl="0" indent="0" marL="0">
              <a:buNone/>
            </a:pPr>
            <a:r>
              <a:rPr/>
              <a:t>Zhang, L., Afanasyev, A., Burke, J., Jacobson, V., claffy, kc, Crowley, P., Papadopoulos, C., Wang, L., &amp; Zhang, B. (2014). Named data networking. </a:t>
            </a:r>
            <a:r>
              <a:rPr i="1"/>
              <a:t>ACM SIGCOMM Computer Communication Review</a:t>
            </a:r>
            <a:r>
              <a:rPr/>
              <a:t>, </a:t>
            </a:r>
            <a:r>
              <a:rPr i="1"/>
              <a:t>44</a:t>
            </a:r>
            <a:r>
              <a:rPr/>
              <a:t>(3), 66–73. </a:t>
            </a:r>
            <a:r>
              <a:rPr>
                <a:hlinkClick r:id="rId19"/>
              </a:rPr>
              <a:t>https://doi.org/10.1145/2656877.2656887</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35e"/>
      </a:dk2>
      <a:lt2>
        <a:srgbClr val="f0f4fa"/>
      </a:lt2>
      <a:accent1>
        <a:srgbClr val="003cb3"/>
      </a:accent1>
      <a:accent2>
        <a:srgbClr val="ff9100"/>
      </a:accent2>
      <a:accent3>
        <a:srgbClr val="00a291"/>
      </a:accent3>
      <a:accent4>
        <a:srgbClr val="1f335e"/>
      </a:accent4>
      <a:accent5>
        <a:srgbClr val="f0f4fa"/>
      </a:accent5>
      <a:accent6>
        <a:srgbClr val="222832"/>
      </a:accent6>
      <a:hlink>
        <a:srgbClr val="003cb3"/>
      </a:hlink>
      <a:folHlink>
        <a:srgbClr val="ff91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Source as Institutional Infrastructure</dc:title>
  <dc:creator>Tim Dennis</dc:creator>
  <cp:keywords/>
  <dcterms:created xsi:type="dcterms:W3CDTF">2026-06-05T23:18:50Z</dcterms:created>
  <dcterms:modified xsi:type="dcterms:W3CDTF">2026-06-05T23:18:50Z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https://raw.githubusercontent.com/citation-style-language/styles/master/apa.csl</vt:lpwstr>
  </property>
  <property fmtid="{D5CDD505-2E9C-101B-9397-08002B2CF9AE}" pid="9" name="engines">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institute">
    <vt:lpwstr/>
  </property>
  <property fmtid="{D5CDD505-2E9C-101B-9397-08002B2CF9AE}" pid="14" name="institutes">
    <vt:lpwstr/>
  </property>
  <property fmtid="{D5CDD505-2E9C-101B-9397-08002B2CF9AE}" pid="15" name="labels">
    <vt:lpwstr/>
  </property>
  <property fmtid="{D5CDD505-2E9C-101B-9397-08002B2CF9AE}" pid="16" name="nocite">
    <vt:lpwstr>@*</vt:lpwstr>
  </property>
  <property fmtid="{D5CDD505-2E9C-101B-9397-08002B2CF9AE}" pid="17" name="subtitle">
    <vt:lpwstr>Lessons from the UC OSPO Network</vt:lpwstr>
  </property>
  <property fmtid="{D5CDD505-2E9C-101B-9397-08002B2CF9AE}" pid="18" name="toc-title">
    <vt:lpwstr>Table of contents</vt:lpwstr>
  </property>
</Properties>
</file>